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1430000" cy="733425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27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keyword-panel">
            <a:extLst>
              <a:ext uri="{FF2B5EF4-FFF2-40B4-BE49-F238E27FC236}">
                <a16:creationId xmlns:a16="http://schemas.microsoft.com/office/drawing/2014/main" id="{66786639-CF16-49A8-A963-46A92C33996D}"/>
              </a:ext>
            </a:extLst>
          </p:cNvPr>
          <p:cNvSpPr>
            <a:spLocks noGrp="1"/>
          </p:cNvSpPr>
          <p:nvPr/>
        </p:nvSpPr>
        <p:spPr>
          <a:xfrm>
            <a:off x="438150" y="400050"/>
            <a:ext cx="4953000" cy="4762500"/>
          </a:xfrm>
          <a:prstGeom prst="roundRect">
            <a:avLst>
              <a:gd name="adj" fmla="val 3600"/>
            </a:avLst>
          </a:prstGeom>
          <a:solidFill>
            <a:srgbClr val="FFFAF0"/>
          </a:solidFill>
          <a:ln w="19050">
            <a:solidFill>
              <a:srgbClr val="D8C8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browse-panel">
            <a:extLst>
              <a:ext uri="{FF2B5EF4-FFF2-40B4-BE49-F238E27FC236}">
                <a16:creationId xmlns:a16="http://schemas.microsoft.com/office/drawing/2014/main" id="{0A26D4B4-0CA9-4DDE-AD26-81604E36A6E6}"/>
              </a:ext>
            </a:extLst>
          </p:cNvPr>
          <p:cNvSpPr>
            <a:spLocks noGrp="1"/>
          </p:cNvSpPr>
          <p:nvPr/>
        </p:nvSpPr>
        <p:spPr>
          <a:xfrm>
            <a:off x="6038850" y="400050"/>
            <a:ext cx="4953000" cy="6572250"/>
          </a:xfrm>
          <a:prstGeom prst="roundRect">
            <a:avLst>
              <a:gd name="adj" fmla="val 3462"/>
            </a:avLst>
          </a:prstGeom>
          <a:solidFill>
            <a:srgbClr val="FFFAF0"/>
          </a:solidFill>
          <a:ln w="19050">
            <a:solidFill>
              <a:srgbClr val="D8C8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keyword-panel-title">
            <a:extLst>
              <a:ext uri="{FF2B5EF4-FFF2-40B4-BE49-F238E27FC236}">
                <a16:creationId xmlns:a16="http://schemas.microsoft.com/office/drawing/2014/main" id="{CD6C686C-A432-499A-BDEC-8709B95E5ADE}"/>
              </a:ext>
            </a:extLst>
          </p:cNvPr>
          <p:cNvSpPr>
            <a:spLocks noGrp="1"/>
          </p:cNvSpPr>
          <p:nvPr/>
        </p:nvSpPr>
        <p:spPr>
          <a:xfrm>
            <a:off x="762000" y="590550"/>
            <a:ext cx="419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Keyword Search</a:t>
            </a:r>
          </a:p>
        </p:txBody>
      </p:sp>
      <p:sp>
        <p:nvSpPr>
          <p:cNvPr id="4" name="keyword-panel-description">
            <a:extLst>
              <a:ext uri="{FF2B5EF4-FFF2-40B4-BE49-F238E27FC236}">
                <a16:creationId xmlns:a16="http://schemas.microsoft.com/office/drawing/2014/main" id="{6542CF4B-9D07-45E6-A4B0-1E534E62DB96}"/>
              </a:ext>
            </a:extLst>
          </p:cNvPr>
          <p:cNvSpPr>
            <a:spLocks noGrp="1"/>
          </p:cNvSpPr>
          <p:nvPr/>
        </p:nvSpPr>
        <p:spPr>
          <a:xfrm>
            <a:off x="762000" y="1066800"/>
            <a:ext cx="4191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879" lnSpcReduction="10000"/>
          </a:bodyPr>
          <a:lstStyle/>
          <a:p>
            <a:pPr algn="l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searches for posts by using up to four keywords.</a:t>
            </a:r>
          </a:p>
          <a:p>
            <a:endParaRPr sz="1650" dirty="0">
              <a:solidFill>
                <a:srgbClr val="333333"/>
              </a:solidFill>
              <a:latin typeface="Arial"/>
              <a:ea typeface="Arial"/>
              <a:cs typeface="Arial"/>
            </a:endParaRPr>
          </a:p>
          <a:p>
            <a:pPr algn="l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can consist of either topics or secondary keywords.</a:t>
            </a:r>
          </a:p>
        </p:txBody>
      </p:sp>
      <p:sp>
        <p:nvSpPr>
          <p:cNvPr id="5" name="browse-panel-title">
            <a:extLst>
              <a:ext uri="{FF2B5EF4-FFF2-40B4-BE49-F238E27FC236}">
                <a16:creationId xmlns:a16="http://schemas.microsoft.com/office/drawing/2014/main" id="{EC3F7A36-21ED-4769-A913-9586D1D4851A}"/>
              </a:ext>
            </a:extLst>
          </p:cNvPr>
          <p:cNvSpPr>
            <a:spLocks noGrp="1"/>
          </p:cNvSpPr>
          <p:nvPr/>
        </p:nvSpPr>
        <p:spPr>
          <a:xfrm>
            <a:off x="6362700" y="590550"/>
            <a:ext cx="419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by Topic</a:t>
            </a:r>
          </a:p>
        </p:txBody>
      </p:sp>
      <p:sp>
        <p:nvSpPr>
          <p:cNvPr id="6" name="browse-panel-description">
            <a:extLst>
              <a:ext uri="{FF2B5EF4-FFF2-40B4-BE49-F238E27FC236}">
                <a16:creationId xmlns:a16="http://schemas.microsoft.com/office/drawing/2014/main" id="{D470D1FB-468B-404C-8DEA-43D8D7683069}"/>
              </a:ext>
            </a:extLst>
          </p:cNvPr>
          <p:cNvSpPr>
            <a:spLocks noGrp="1"/>
          </p:cNvSpPr>
          <p:nvPr/>
        </p:nvSpPr>
        <p:spPr>
          <a:xfrm>
            <a:off x="6362700" y="106680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moves from broad subject areas to specific posts.</a:t>
            </a:r>
          </a:p>
        </p:txBody>
      </p:sp>
      <p:sp>
        <p:nvSpPr>
          <p:cNvPr id="7" name="subject-areas-node">
            <a:extLst>
              <a:ext uri="{FF2B5EF4-FFF2-40B4-BE49-F238E27FC236}">
                <a16:creationId xmlns:a16="http://schemas.microsoft.com/office/drawing/2014/main" id="{B44DE2FF-4B38-4AA0-A8A9-5B79F2E56B75}"/>
              </a:ext>
            </a:extLst>
          </p:cNvPr>
          <p:cNvSpPr>
            <a:spLocks noGrp="1"/>
          </p:cNvSpPr>
          <p:nvPr/>
        </p:nvSpPr>
        <p:spPr>
          <a:xfrm>
            <a:off x="6419850" y="1714500"/>
            <a:ext cx="4191000" cy="857250"/>
          </a:xfrm>
          <a:prstGeom prst="roundRect">
            <a:avLst>
              <a:gd name="adj" fmla="val 15556"/>
            </a:avLst>
          </a:prstGeom>
          <a:solidFill>
            <a:srgbClr val="F3D894"/>
          </a:solidFill>
          <a:ln w="23813">
            <a:solidFill>
              <a:srgbClr val="B987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ategories-node">
            <a:extLst>
              <a:ext uri="{FF2B5EF4-FFF2-40B4-BE49-F238E27FC236}">
                <a16:creationId xmlns:a16="http://schemas.microsoft.com/office/drawing/2014/main" id="{8E11B6A4-9520-4A78-97DD-C4417B4B8514}"/>
              </a:ext>
            </a:extLst>
          </p:cNvPr>
          <p:cNvSpPr>
            <a:spLocks noGrp="1"/>
          </p:cNvSpPr>
          <p:nvPr/>
        </p:nvSpPr>
        <p:spPr>
          <a:xfrm>
            <a:off x="6419850" y="3038475"/>
            <a:ext cx="4191000" cy="857250"/>
          </a:xfrm>
          <a:prstGeom prst="roundRect">
            <a:avLst>
              <a:gd name="adj" fmla="val 15556"/>
            </a:avLst>
          </a:prstGeom>
          <a:solidFill>
            <a:srgbClr val="FFF4CF"/>
          </a:solidFill>
          <a:ln w="23813">
            <a:solidFill>
              <a:srgbClr val="CAA4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opics-node">
            <a:extLst>
              <a:ext uri="{FF2B5EF4-FFF2-40B4-BE49-F238E27FC236}">
                <a16:creationId xmlns:a16="http://schemas.microsoft.com/office/drawing/2014/main" id="{45147D1D-6CDA-47A5-AB09-3BBECA29D196}"/>
              </a:ext>
            </a:extLst>
          </p:cNvPr>
          <p:cNvSpPr>
            <a:spLocks noGrp="1"/>
          </p:cNvSpPr>
          <p:nvPr/>
        </p:nvSpPr>
        <p:spPr>
          <a:xfrm>
            <a:off x="6419850" y="4362450"/>
            <a:ext cx="4191000" cy="857250"/>
          </a:xfrm>
          <a:prstGeom prst="roundRect">
            <a:avLst>
              <a:gd name="adj" fmla="val 15556"/>
            </a:avLst>
          </a:prstGeom>
          <a:solidFill>
            <a:srgbClr val="E9F3FB"/>
          </a:solidFill>
          <a:ln w="23813">
            <a:solidFill>
              <a:srgbClr val="3D7F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browse-posts-node">
            <a:extLst>
              <a:ext uri="{FF2B5EF4-FFF2-40B4-BE49-F238E27FC236}">
                <a16:creationId xmlns:a16="http://schemas.microsoft.com/office/drawing/2014/main" id="{67F6984B-843B-4CE5-9C6E-E66709777A9F}"/>
              </a:ext>
            </a:extLst>
          </p:cNvPr>
          <p:cNvSpPr>
            <a:spLocks noGrp="1"/>
          </p:cNvSpPr>
          <p:nvPr/>
        </p:nvSpPr>
        <p:spPr>
          <a:xfrm>
            <a:off x="6419850" y="5686425"/>
            <a:ext cx="4191000" cy="857250"/>
          </a:xfrm>
          <a:prstGeom prst="roundRect">
            <a:avLst>
              <a:gd name="adj" fmla="val 15556"/>
            </a:avLst>
          </a:prstGeom>
          <a:solidFill>
            <a:srgbClr val="E8F4E5"/>
          </a:solidFill>
          <a:ln w="23813">
            <a:solidFill>
              <a:srgbClr val="5B93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earch-terms-node">
            <a:extLst>
              <a:ext uri="{FF2B5EF4-FFF2-40B4-BE49-F238E27FC236}">
                <a16:creationId xmlns:a16="http://schemas.microsoft.com/office/drawing/2014/main" id="{7B911D94-11EE-4645-B54B-8CBF3E522938}"/>
              </a:ext>
            </a:extLst>
          </p:cNvPr>
          <p:cNvSpPr>
            <a:spLocks noGrp="1"/>
          </p:cNvSpPr>
          <p:nvPr/>
        </p:nvSpPr>
        <p:spPr>
          <a:xfrm>
            <a:off x="819150" y="2628900"/>
            <a:ext cx="4191000" cy="857250"/>
          </a:xfrm>
          <a:prstGeom prst="roundRect">
            <a:avLst>
              <a:gd name="adj" fmla="val 15556"/>
            </a:avLst>
          </a:prstGeom>
          <a:solidFill>
            <a:srgbClr val="E9F3FB"/>
          </a:solidFill>
          <a:ln w="23813">
            <a:solidFill>
              <a:srgbClr val="6F6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econdary-keywords-fill">
            <a:extLst>
              <a:ext uri="{FF2B5EF4-FFF2-40B4-BE49-F238E27FC236}">
                <a16:creationId xmlns:a16="http://schemas.microsoft.com/office/drawing/2014/main" id="{9CFC8154-69FF-4F95-B8F9-2EDBD5683FD0}"/>
              </a:ext>
            </a:extLst>
          </p:cNvPr>
          <p:cNvSpPr>
            <a:spLocks noGrp="1"/>
          </p:cNvSpPr>
          <p:nvPr/>
        </p:nvSpPr>
        <p:spPr>
          <a:xfrm>
            <a:off x="2914650" y="2628900"/>
            <a:ext cx="2095500" cy="857250"/>
          </a:xfrm>
          <a:prstGeom prst="roundRect">
            <a:avLst>
              <a:gd name="adj" fmla="val 15556"/>
            </a:avLst>
          </a:prstGeom>
          <a:solidFill>
            <a:srgbClr val="F0EAF7"/>
          </a:solidFill>
          <a:ln w="0">
            <a:solidFill>
              <a:srgbClr val="F0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econdary-keywords-center-fill">
            <a:extLst>
              <a:ext uri="{FF2B5EF4-FFF2-40B4-BE49-F238E27FC236}">
                <a16:creationId xmlns:a16="http://schemas.microsoft.com/office/drawing/2014/main" id="{A49212D4-8A4B-433F-9B6F-7C09050B8525}"/>
              </a:ext>
            </a:extLst>
          </p:cNvPr>
          <p:cNvSpPr>
            <a:spLocks noGrp="1"/>
          </p:cNvSpPr>
          <p:nvPr/>
        </p:nvSpPr>
        <p:spPr>
          <a:xfrm>
            <a:off x="2914650" y="2628900"/>
            <a:ext cx="209550" cy="857250"/>
          </a:xfrm>
          <a:prstGeom prst="rect">
            <a:avLst/>
          </a:prstGeom>
          <a:solidFill>
            <a:srgbClr val="F0EAF7"/>
          </a:solidFill>
          <a:ln w="0">
            <a:solidFill>
              <a:srgbClr val="F0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earch-terms-outline">
            <a:extLst>
              <a:ext uri="{FF2B5EF4-FFF2-40B4-BE49-F238E27FC236}">
                <a16:creationId xmlns:a16="http://schemas.microsoft.com/office/drawing/2014/main" id="{0BF5A886-194C-40DC-8F73-A921A26B67BA}"/>
              </a:ext>
            </a:extLst>
          </p:cNvPr>
          <p:cNvSpPr>
            <a:spLocks noGrp="1"/>
          </p:cNvSpPr>
          <p:nvPr/>
        </p:nvSpPr>
        <p:spPr>
          <a:xfrm>
            <a:off x="819150" y="2628900"/>
            <a:ext cx="4191000" cy="857250"/>
          </a:xfrm>
          <a:prstGeom prst="roundRect">
            <a:avLst>
              <a:gd name="adj" fmla="val 15556"/>
            </a:avLst>
          </a:prstGeom>
          <a:noFill/>
          <a:ln w="23813">
            <a:solidFill>
              <a:srgbClr val="6F6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earch-terms-divider">
            <a:extLst>
              <a:ext uri="{FF2B5EF4-FFF2-40B4-BE49-F238E27FC236}">
                <a16:creationId xmlns:a16="http://schemas.microsoft.com/office/drawing/2014/main" id="{72522897-0730-46E1-ABA4-9425190869E7}"/>
              </a:ext>
            </a:extLst>
          </p:cNvPr>
          <p:cNvSpPr>
            <a:spLocks noGrp="1"/>
          </p:cNvSpPr>
          <p:nvPr/>
        </p:nvSpPr>
        <p:spPr>
          <a:xfrm>
            <a:off x="2914650" y="2628900"/>
            <a:ext cx="0" cy="857250"/>
          </a:xfrm>
          <a:prstGeom prst="line">
            <a:avLst/>
          </a:prstGeom>
          <a:noFill/>
          <a:ln w="19050">
            <a:solidFill>
              <a:srgbClr val="6F6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earch-posts-node">
            <a:extLst>
              <a:ext uri="{FF2B5EF4-FFF2-40B4-BE49-F238E27FC236}">
                <a16:creationId xmlns:a16="http://schemas.microsoft.com/office/drawing/2014/main" id="{366B400F-508A-4215-9F1B-852F204F8B14}"/>
              </a:ext>
            </a:extLst>
          </p:cNvPr>
          <p:cNvSpPr>
            <a:spLocks noGrp="1"/>
          </p:cNvSpPr>
          <p:nvPr/>
        </p:nvSpPr>
        <p:spPr>
          <a:xfrm>
            <a:off x="819150" y="3943350"/>
            <a:ext cx="4191000" cy="857250"/>
          </a:xfrm>
          <a:prstGeom prst="roundRect">
            <a:avLst>
              <a:gd name="adj" fmla="val 15556"/>
            </a:avLst>
          </a:prstGeom>
          <a:solidFill>
            <a:srgbClr val="E8F4E5"/>
          </a:solidFill>
          <a:ln w="23813">
            <a:solidFill>
              <a:srgbClr val="5B93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59" name="Straight Arrow Connector 58"/>
          <p:cNvCxnSpPr>
            <a:stCxn id="7" idx="2"/>
            <a:endCxn id="8" idx="0"/>
          </p:cNvCxnSpPr>
          <p:nvPr/>
        </p:nvCxnSpPr>
        <p:spPr>
          <a:xfrm>
            <a:off x="8515350" y="2571750"/>
            <a:ext cx="0" cy="466725"/>
          </a:xfrm>
          <a:prstGeom prst="straightConnector1">
            <a:avLst/>
          </a:prstGeom>
          <a:ln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60" name="Straight Arrow Connector 59"/>
          <p:cNvCxnSpPr>
            <a:stCxn id="8" idx="2"/>
            <a:endCxn id="9" idx="0"/>
          </p:cNvCxnSpPr>
          <p:nvPr/>
        </p:nvCxnSpPr>
        <p:spPr>
          <a:xfrm>
            <a:off x="8515350" y="3895725"/>
            <a:ext cx="0" cy="466725"/>
          </a:xfrm>
          <a:prstGeom prst="straightConnector1">
            <a:avLst/>
          </a:prstGeom>
          <a:ln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61" name="Straight Arrow Connector 60"/>
          <p:cNvCxnSpPr>
            <a:stCxn id="9" idx="2"/>
            <a:endCxn id="10" idx="0"/>
          </p:cNvCxnSpPr>
          <p:nvPr/>
        </p:nvCxnSpPr>
        <p:spPr>
          <a:xfrm>
            <a:off x="8515350" y="5219700"/>
            <a:ext cx="0" cy="466725"/>
          </a:xfrm>
          <a:prstGeom prst="straightConnector1">
            <a:avLst/>
          </a:prstGeom>
          <a:ln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62" name="Straight Arrow Connector 61"/>
          <p:cNvCxnSpPr>
            <a:stCxn id="11" idx="2"/>
            <a:endCxn id="16" idx="0"/>
          </p:cNvCxnSpPr>
          <p:nvPr/>
        </p:nvCxnSpPr>
        <p:spPr>
          <a:xfrm>
            <a:off x="2914650" y="3486150"/>
            <a:ext cx="0" cy="457200"/>
          </a:xfrm>
          <a:prstGeom prst="straightConnector1">
            <a:avLst/>
          </a:prstGeom>
          <a:ln w="23813">
            <a:solidFill>
              <a:srgbClr val="7B1F1B"/>
            </a:solidFill>
            <a:prstDash val="solid"/>
            <a:tailEnd type="triangle" w="sm" len="sm"/>
          </a:ln>
        </p:spPr>
      </p:cxnSp>
      <p:sp>
        <p:nvSpPr>
          <p:cNvPr id="21" name="search-topics-title">
            <a:extLst>
              <a:ext uri="{FF2B5EF4-FFF2-40B4-BE49-F238E27FC236}">
                <a16:creationId xmlns:a16="http://schemas.microsoft.com/office/drawing/2014/main" id="{ACD22332-7FCD-4440-9DD0-260582926B9C}"/>
              </a:ext>
            </a:extLst>
          </p:cNvPr>
          <p:cNvSpPr>
            <a:spLocks noGrp="1"/>
          </p:cNvSpPr>
          <p:nvPr/>
        </p:nvSpPr>
        <p:spPr>
          <a:xfrm>
            <a:off x="866775" y="27527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22" name="search-topics-count">
            <a:extLst>
              <a:ext uri="{FF2B5EF4-FFF2-40B4-BE49-F238E27FC236}">
                <a16:creationId xmlns:a16="http://schemas.microsoft.com/office/drawing/2014/main" id="{B690A045-FB30-44D9-A6C7-7E5D72C6C7AC}"/>
              </a:ext>
            </a:extLst>
          </p:cNvPr>
          <p:cNvSpPr>
            <a:spLocks noGrp="1"/>
          </p:cNvSpPr>
          <p:nvPr/>
        </p:nvSpPr>
        <p:spPr>
          <a:xfrm>
            <a:off x="866775" y="3086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(251 topics)</a:t>
            </a:r>
          </a:p>
        </p:txBody>
      </p:sp>
      <p:sp>
        <p:nvSpPr>
          <p:cNvPr id="23" name="secondary-keywords-title">
            <a:extLst>
              <a:ext uri="{FF2B5EF4-FFF2-40B4-BE49-F238E27FC236}">
                <a16:creationId xmlns:a16="http://schemas.microsoft.com/office/drawing/2014/main" id="{654B5223-4D6E-4CD5-9E77-05D138B51148}"/>
              </a:ext>
            </a:extLst>
          </p:cNvPr>
          <p:cNvSpPr>
            <a:spLocks noGrp="1"/>
          </p:cNvSpPr>
          <p:nvPr/>
        </p:nvSpPr>
        <p:spPr>
          <a:xfrm>
            <a:off x="2962275" y="27527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3670"/>
          </a:bodyPr>
          <a:lstStyle/>
          <a:p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</a:t>
            </a:r>
          </a:p>
        </p:txBody>
      </p:sp>
      <p:sp>
        <p:nvSpPr>
          <p:cNvPr id="24" name="secondary-keywords-count">
            <a:extLst>
              <a:ext uri="{FF2B5EF4-FFF2-40B4-BE49-F238E27FC236}">
                <a16:creationId xmlns:a16="http://schemas.microsoft.com/office/drawing/2014/main" id="{735C6B87-2BCF-4932-91B7-EF07EB48A10E}"/>
              </a:ext>
            </a:extLst>
          </p:cNvPr>
          <p:cNvSpPr>
            <a:spLocks noGrp="1"/>
          </p:cNvSpPr>
          <p:nvPr/>
        </p:nvSpPr>
        <p:spPr>
          <a:xfrm>
            <a:off x="2962275" y="3086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(1,624 keywords)</a:t>
            </a:r>
          </a:p>
        </p:txBody>
      </p:sp>
      <p:sp>
        <p:nvSpPr>
          <p:cNvPr id="25" name="search-posts-title">
            <a:extLst>
              <a:ext uri="{FF2B5EF4-FFF2-40B4-BE49-F238E27FC236}">
                <a16:creationId xmlns:a16="http://schemas.microsoft.com/office/drawing/2014/main" id="{3D05D054-C7FA-4FEB-9AC1-AD9411CBB480}"/>
              </a:ext>
            </a:extLst>
          </p:cNvPr>
          <p:cNvSpPr>
            <a:spLocks noGrp="1"/>
          </p:cNvSpPr>
          <p:nvPr/>
        </p:nvSpPr>
        <p:spPr>
          <a:xfrm>
            <a:off x="990600" y="4067175"/>
            <a:ext cx="3848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26" name="search-posts-detail">
            <a:extLst>
              <a:ext uri="{FF2B5EF4-FFF2-40B4-BE49-F238E27FC236}">
                <a16:creationId xmlns:a16="http://schemas.microsoft.com/office/drawing/2014/main" id="{361A3AA9-4F61-45F4-A420-09158AAB1B5A}"/>
              </a:ext>
            </a:extLst>
          </p:cNvPr>
          <p:cNvSpPr>
            <a:spLocks noGrp="1"/>
          </p:cNvSpPr>
          <p:nvPr/>
        </p:nvSpPr>
        <p:spPr>
          <a:xfrm>
            <a:off x="990600" y="4400550"/>
            <a:ext cx="3848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(4,300+ posts)</a:t>
            </a:r>
          </a:p>
        </p:txBody>
      </p:sp>
      <p:sp>
        <p:nvSpPr>
          <p:cNvPr id="27" name="definition-subject-areas-label">
            <a:extLst>
              <a:ext uri="{FF2B5EF4-FFF2-40B4-BE49-F238E27FC236}">
                <a16:creationId xmlns:a16="http://schemas.microsoft.com/office/drawing/2014/main" id="{0AF6DD74-1B74-4EF2-8C3D-A7CFF9489366}"/>
              </a:ext>
            </a:extLst>
          </p:cNvPr>
          <p:cNvSpPr>
            <a:spLocks noGrp="1"/>
          </p:cNvSpPr>
          <p:nvPr/>
        </p:nvSpPr>
        <p:spPr>
          <a:xfrm>
            <a:off x="571500" y="539115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Areas:</a:t>
            </a:r>
          </a:p>
        </p:txBody>
      </p:sp>
      <p:sp>
        <p:nvSpPr>
          <p:cNvPr id="28" name="definition-subject-areas-detail">
            <a:extLst>
              <a:ext uri="{FF2B5EF4-FFF2-40B4-BE49-F238E27FC236}">
                <a16:creationId xmlns:a16="http://schemas.microsoft.com/office/drawing/2014/main" id="{00DC7FD3-C452-474A-BE9E-C3FB723F3CB7}"/>
              </a:ext>
            </a:extLst>
          </p:cNvPr>
          <p:cNvSpPr>
            <a:spLocks noGrp="1"/>
          </p:cNvSpPr>
          <p:nvPr/>
        </p:nvSpPr>
        <p:spPr>
          <a:xfrm>
            <a:off x="1714500" y="5391150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Broad groupings that organize related categories.</a:t>
            </a:r>
          </a:p>
        </p:txBody>
      </p:sp>
      <p:sp>
        <p:nvSpPr>
          <p:cNvPr id="29" name="definition-categories-label">
            <a:extLst>
              <a:ext uri="{FF2B5EF4-FFF2-40B4-BE49-F238E27FC236}">
                <a16:creationId xmlns:a16="http://schemas.microsoft.com/office/drawing/2014/main" id="{7C33C4BB-D71B-43D7-947B-435CBCD7108F}"/>
              </a:ext>
            </a:extLst>
          </p:cNvPr>
          <p:cNvSpPr>
            <a:spLocks noGrp="1"/>
          </p:cNvSpPr>
          <p:nvPr/>
        </p:nvSpPr>
        <p:spPr>
          <a:xfrm>
            <a:off x="571500" y="579120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Categories:</a:t>
            </a:r>
          </a:p>
        </p:txBody>
      </p:sp>
      <p:sp>
        <p:nvSpPr>
          <p:cNvPr id="30" name="definition-categories-detail">
            <a:extLst>
              <a:ext uri="{FF2B5EF4-FFF2-40B4-BE49-F238E27FC236}">
                <a16:creationId xmlns:a16="http://schemas.microsoft.com/office/drawing/2014/main" id="{C58CC294-E5EC-4912-8A75-7FD3DB842D51}"/>
              </a:ext>
            </a:extLst>
          </p:cNvPr>
          <p:cNvSpPr>
            <a:spLocks noGrp="1"/>
          </p:cNvSpPr>
          <p:nvPr/>
        </p:nvSpPr>
        <p:spPr>
          <a:xfrm>
            <a:off x="1485900" y="5791200"/>
            <a:ext cx="3848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Focused groupings of related topics.</a:t>
            </a:r>
          </a:p>
        </p:txBody>
      </p:sp>
      <p:sp>
        <p:nvSpPr>
          <p:cNvPr id="31" name="definition-topics-label">
            <a:extLst>
              <a:ext uri="{FF2B5EF4-FFF2-40B4-BE49-F238E27FC236}">
                <a16:creationId xmlns:a16="http://schemas.microsoft.com/office/drawing/2014/main" id="{ACF0B6A8-DA26-4B78-86D5-1283579A9471}"/>
              </a:ext>
            </a:extLst>
          </p:cNvPr>
          <p:cNvSpPr>
            <a:spLocks noGrp="1"/>
          </p:cNvSpPr>
          <p:nvPr/>
        </p:nvSpPr>
        <p:spPr>
          <a:xfrm>
            <a:off x="571500" y="61912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Topics:</a:t>
            </a:r>
          </a:p>
        </p:txBody>
      </p:sp>
      <p:sp>
        <p:nvSpPr>
          <p:cNvPr id="32" name="definition-topics-detail">
            <a:extLst>
              <a:ext uri="{FF2B5EF4-FFF2-40B4-BE49-F238E27FC236}">
                <a16:creationId xmlns:a16="http://schemas.microsoft.com/office/drawing/2014/main" id="{2C60B3E1-AC15-4F99-AC36-0A4E8DE37BA9}"/>
              </a:ext>
            </a:extLst>
          </p:cNvPr>
          <p:cNvSpPr>
            <a:spLocks noGrp="1"/>
          </p:cNvSpPr>
          <p:nvPr/>
        </p:nvSpPr>
        <p:spPr>
          <a:xfrm>
            <a:off x="1162050" y="619125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Specific subjects used to connect related posts.</a:t>
            </a:r>
          </a:p>
        </p:txBody>
      </p:sp>
      <p:sp>
        <p:nvSpPr>
          <p:cNvPr id="33" name="definition-secondary-keywords-label">
            <a:extLst>
              <a:ext uri="{FF2B5EF4-FFF2-40B4-BE49-F238E27FC236}">
                <a16:creationId xmlns:a16="http://schemas.microsoft.com/office/drawing/2014/main" id="{E95C92F6-0FC5-44E1-8720-AF667BD0A830}"/>
              </a:ext>
            </a:extLst>
          </p:cNvPr>
          <p:cNvSpPr>
            <a:spLocks noGrp="1"/>
          </p:cNvSpPr>
          <p:nvPr/>
        </p:nvSpPr>
        <p:spPr>
          <a:xfrm>
            <a:off x="571499" y="6591300"/>
            <a:ext cx="167558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Keywords:</a:t>
            </a:r>
          </a:p>
        </p:txBody>
      </p:sp>
      <p:sp>
        <p:nvSpPr>
          <p:cNvPr id="34" name="definition-secondary-keywords-detail">
            <a:extLst>
              <a:ext uri="{FF2B5EF4-FFF2-40B4-BE49-F238E27FC236}">
                <a16:creationId xmlns:a16="http://schemas.microsoft.com/office/drawing/2014/main" id="{84F6749A-FCE3-4AC9-B9C3-E1677A518C9F}"/>
              </a:ext>
            </a:extLst>
          </p:cNvPr>
          <p:cNvSpPr>
            <a:spLocks noGrp="1"/>
          </p:cNvSpPr>
          <p:nvPr/>
        </p:nvSpPr>
        <p:spPr>
          <a:xfrm>
            <a:off x="2247088" y="6572250"/>
            <a:ext cx="3181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identified in the individual blog posts.</a:t>
            </a:r>
          </a:p>
        </p:txBody>
      </p:sp>
      <p:sp>
        <p:nvSpPr>
          <p:cNvPr id="35" name="subject-areas-title">
            <a:extLst>
              <a:ext uri="{FF2B5EF4-FFF2-40B4-BE49-F238E27FC236}">
                <a16:creationId xmlns:a16="http://schemas.microsoft.com/office/drawing/2014/main" id="{BF3AE88F-90B2-4B7C-8ABB-29602A0F1BC5}"/>
              </a:ext>
            </a:extLst>
          </p:cNvPr>
          <p:cNvSpPr>
            <a:spLocks noGrp="1"/>
          </p:cNvSpPr>
          <p:nvPr/>
        </p:nvSpPr>
        <p:spPr>
          <a:xfrm>
            <a:off x="6591300" y="1838325"/>
            <a:ext cx="3848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</a:t>
            </a:r>
          </a:p>
        </p:txBody>
      </p:sp>
      <p:sp>
        <p:nvSpPr>
          <p:cNvPr id="36" name="subject-areas-detail">
            <a:extLst>
              <a:ext uri="{FF2B5EF4-FFF2-40B4-BE49-F238E27FC236}">
                <a16:creationId xmlns:a16="http://schemas.microsoft.com/office/drawing/2014/main" id="{8F0D9F53-2EB0-41D7-AE2D-A0194EE09765}"/>
              </a:ext>
            </a:extLst>
          </p:cNvPr>
          <p:cNvSpPr>
            <a:spLocks noGrp="1"/>
          </p:cNvSpPr>
          <p:nvPr/>
        </p:nvSpPr>
        <p:spPr>
          <a:xfrm>
            <a:off x="6591300" y="2171700"/>
            <a:ext cx="3848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(11 </a:t>
            </a:r>
            <a:r>
              <a:rPr lang="en-US"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subject </a:t>
            </a: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areas)</a:t>
            </a:r>
          </a:p>
        </p:txBody>
      </p:sp>
      <p:sp>
        <p:nvSpPr>
          <p:cNvPr id="37" name="categories-title">
            <a:extLst>
              <a:ext uri="{FF2B5EF4-FFF2-40B4-BE49-F238E27FC236}">
                <a16:creationId xmlns:a16="http://schemas.microsoft.com/office/drawing/2014/main" id="{2E511F9A-A9D9-44A3-B149-672D2417033B}"/>
              </a:ext>
            </a:extLst>
          </p:cNvPr>
          <p:cNvSpPr>
            <a:spLocks noGrp="1"/>
          </p:cNvSpPr>
          <p:nvPr/>
        </p:nvSpPr>
        <p:spPr>
          <a:xfrm>
            <a:off x="6591300" y="3162300"/>
            <a:ext cx="3848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</a:t>
            </a:r>
          </a:p>
        </p:txBody>
      </p:sp>
      <p:sp>
        <p:nvSpPr>
          <p:cNvPr id="38" name="categories-detail">
            <a:extLst>
              <a:ext uri="{FF2B5EF4-FFF2-40B4-BE49-F238E27FC236}">
                <a16:creationId xmlns:a16="http://schemas.microsoft.com/office/drawing/2014/main" id="{A4E0D989-2AE5-4778-932A-F899A51115E8}"/>
              </a:ext>
            </a:extLst>
          </p:cNvPr>
          <p:cNvSpPr>
            <a:spLocks noGrp="1"/>
          </p:cNvSpPr>
          <p:nvPr/>
        </p:nvSpPr>
        <p:spPr>
          <a:xfrm>
            <a:off x="6591300" y="3495675"/>
            <a:ext cx="3848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(41 categories)</a:t>
            </a:r>
          </a:p>
        </p:txBody>
      </p:sp>
      <p:sp>
        <p:nvSpPr>
          <p:cNvPr id="39" name="topics-title">
            <a:extLst>
              <a:ext uri="{FF2B5EF4-FFF2-40B4-BE49-F238E27FC236}">
                <a16:creationId xmlns:a16="http://schemas.microsoft.com/office/drawing/2014/main" id="{EB2AD788-89E5-4039-A02C-BE16A2EC4B60}"/>
              </a:ext>
            </a:extLst>
          </p:cNvPr>
          <p:cNvSpPr>
            <a:spLocks noGrp="1"/>
          </p:cNvSpPr>
          <p:nvPr/>
        </p:nvSpPr>
        <p:spPr>
          <a:xfrm>
            <a:off x="6591300" y="4486275"/>
            <a:ext cx="3848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40" name="topics-detail">
            <a:extLst>
              <a:ext uri="{FF2B5EF4-FFF2-40B4-BE49-F238E27FC236}">
                <a16:creationId xmlns:a16="http://schemas.microsoft.com/office/drawing/2014/main" id="{867A19FD-319E-4FF4-9445-1A4746871D69}"/>
              </a:ext>
            </a:extLst>
          </p:cNvPr>
          <p:cNvSpPr>
            <a:spLocks noGrp="1"/>
          </p:cNvSpPr>
          <p:nvPr/>
        </p:nvSpPr>
        <p:spPr>
          <a:xfrm>
            <a:off x="6591300" y="4819650"/>
            <a:ext cx="3848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(251 topics)</a:t>
            </a:r>
          </a:p>
        </p:txBody>
      </p:sp>
      <p:sp>
        <p:nvSpPr>
          <p:cNvPr id="41" name="browse-posts-title">
            <a:extLst>
              <a:ext uri="{FF2B5EF4-FFF2-40B4-BE49-F238E27FC236}">
                <a16:creationId xmlns:a16="http://schemas.microsoft.com/office/drawing/2014/main" id="{8116EA9F-B048-43E3-A80D-22EDAC9578F5}"/>
              </a:ext>
            </a:extLst>
          </p:cNvPr>
          <p:cNvSpPr>
            <a:spLocks noGrp="1"/>
          </p:cNvSpPr>
          <p:nvPr/>
        </p:nvSpPr>
        <p:spPr>
          <a:xfrm>
            <a:off x="6591300" y="5810250"/>
            <a:ext cx="3848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42" name="browse-posts-detail">
            <a:extLst>
              <a:ext uri="{FF2B5EF4-FFF2-40B4-BE49-F238E27FC236}">
                <a16:creationId xmlns:a16="http://schemas.microsoft.com/office/drawing/2014/main" id="{219D03BF-B12B-4305-86D8-24B5FB2F62A3}"/>
              </a:ext>
            </a:extLst>
          </p:cNvPr>
          <p:cNvSpPr>
            <a:spLocks noGrp="1"/>
          </p:cNvSpPr>
          <p:nvPr/>
        </p:nvSpPr>
        <p:spPr>
          <a:xfrm>
            <a:off x="6591300" y="6143625"/>
            <a:ext cx="3848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</a:t>
            </a:r>
            <a:r>
              <a:rPr lang="en-US"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00+</a:t>
            </a:r>
            <a:r>
              <a:rPr sz="165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posts)</a:t>
            </a:r>
          </a:p>
        </p:txBody>
      </p:sp>
    </p:spTree>
    <p:extLst>
      <p:ext uri="{BB962C8B-B14F-4D97-AF65-F5344CB8AC3E}">
        <p14:creationId xmlns:p14="http://schemas.microsoft.com/office/powerpoint/2010/main" val="129485847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</Words>
  <Application>Microsoft Office PowerPoint</Application>
  <DocSecurity>0</DocSecurity>
  <PresentationFormat>Custom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steveeastin1965@gmail.com</cp:lastModifiedBy>
  <cp:revision>1</cp:revision>
  <dcterms:created xsi:type="dcterms:W3CDTF">2026-07-22T19:38:38Z</dcterms:created>
  <dcterms:modified xsi:type="dcterms:W3CDTF">2026-07-22T19:44:18Z</dcterms:modified>
</cp:coreProperties>
</file>