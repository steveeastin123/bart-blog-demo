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7a4b6d2e2c4d80" /><Relationship Type="http://schemas.openxmlformats.org/officeDocument/2006/relationships/extended-properties" Target="/docProps/app.xml" Id="R19a79381c06e4dda" /><Relationship Type="http://schemas.openxmlformats.org/officeDocument/2006/relationships/officeDocument" Target="/ppt/presentation.xml" Id="Rd46d032bd46f41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ee7dbbc7534d19"/>
  </p:sldMasterIdLst>
  <p:notesMasterIdLst>
    <p:notesMasterId xmlns:r="http://schemas.openxmlformats.org/officeDocument/2006/relationships" r:id="R1ad9e9e01a8449c9"/>
  </p:notesMasterIdLst>
  <p:sldIdLst>
    <p:sldId xmlns:r="http://schemas.openxmlformats.org/officeDocument/2006/relationships" id="256" r:id="Rdaba9af9f1d442a8"/>
  </p:sldIdLst>
  <p:sldSz cx="11430000" cy="7334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0cfe1777804862" /><Relationship Type="http://schemas.openxmlformats.org/officeDocument/2006/relationships/slideMaster" Target="/ppt/slideMasters/slideMaster1.xml" Id="Rd5ee7dbbc7534d19" /><Relationship Type="http://schemas.openxmlformats.org/officeDocument/2006/relationships/notesMaster" Target="/ppt/notesMasters/notesMaster1.xml" Id="R1ad9e9e01a8449c9" /><Relationship Type="http://schemas.openxmlformats.org/officeDocument/2006/relationships/presProps" Target="/ppt/presProps.xml" Id="R301a694905c041ae" /><Relationship Type="http://schemas.openxmlformats.org/officeDocument/2006/relationships/viewProps" Target="/ppt/viewProps.xml" Id="R5d4fdf10c902458a" /><Relationship Type="http://schemas.openxmlformats.org/officeDocument/2006/relationships/tableStyles" Target="/ppt/tableStyles.xml" Id="Rdb003fc598304c76" /><Relationship Type="http://schemas.openxmlformats.org/officeDocument/2006/relationships/slide" Target="/ppt/slides/slide1.xml" Id="Rdaba9af9f1d442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3bb05f2ec8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a1a546c029451a" /><Relationship Type="http://schemas.openxmlformats.org/officeDocument/2006/relationships/notesMaster" Target="/ppt/notesMasters/notesMaster1.xml" Id="R104d027d2a2445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c28e796ab4b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e6bcae9af84f05" /><Relationship Type="http://schemas.openxmlformats.org/officeDocument/2006/relationships/slideLayout" Target="/ppt/slideLayouts/slideLayout1.xml" Id="Rf1929a58e5e84c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929a58e5e84c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b905e0b544823" /><Relationship Type="http://schemas.openxmlformats.org/officeDocument/2006/relationships/notesSlide" Target="/ppt/notesSlides/notesSlide1.xml" Id="R79e34ecc0585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eyword-panel">
            <a:extLst xmlns:a="http://schemas.openxmlformats.org/drawingml/2006/main">
              <a:ext uri="{FF2B5EF4-FFF2-40B4-BE49-F238E27FC236}">
                <a16:creationId xmlns:a16="http://schemas.microsoft.com/office/drawing/2014/main" id="{66786639-CF16-49A8-A963-46A92C33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00050"/>
            <a:ext cx="4953000" cy="4762500"/>
          </a:xfrm>
          <a:prstGeom xmlns:a="http://schemas.openxmlformats.org/drawingml/2006/main" prst="roundRect">
            <a:avLst>
              <a:gd name="adj" fmla="val 3600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19050">
            <a:solidFill>
              <a:srgbClr val="D8C8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browse-panel">
            <a:extLst xmlns:a="http://schemas.openxmlformats.org/drawingml/2006/main">
              <a:ext uri="{FF2B5EF4-FFF2-40B4-BE49-F238E27FC236}">
                <a16:creationId xmlns:a16="http://schemas.microsoft.com/office/drawing/2014/main" id="{0A26D4B4-0CA9-4DDE-AD26-81604E36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"/>
            <a:ext cx="4953000" cy="6572250"/>
          </a:xfrm>
          <a:prstGeom xmlns:a="http://schemas.openxmlformats.org/drawingml/2006/main" prst="roundRect">
            <a:avLst>
              <a:gd name="adj" fmla="val 3462"/>
            </a:avLst>
          </a:prstGeom>
          <a:solidFill xmlns:a="http://schemas.openxmlformats.org/drawingml/2006/main">
            <a:srgbClr val="FFFAF0"/>
          </a:solidFill>
          <a:ln xmlns:a="http://schemas.openxmlformats.org/drawingml/2006/main" w="19050">
            <a:solidFill>
              <a:srgbClr val="D8C8A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eyword-panel-title">
            <a:extLst xmlns:a="http://schemas.openxmlformats.org/drawingml/2006/main">
              <a:ext uri="{FF2B5EF4-FFF2-40B4-BE49-F238E27FC236}">
                <a16:creationId xmlns:a16="http://schemas.microsoft.com/office/drawing/2014/main" id="{CD6C686C-A432-499A-BDEC-8709B95E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Keyword Search</a:t>
            </a:r>
          </a:p>
        </p:txBody>
      </p:sp>
      <p:sp>
        <p:nvSpPr>
          <p:cNvPr id="4" name="keyword-panel-description">
            <a:extLst xmlns:a="http://schemas.openxmlformats.org/drawingml/2006/main">
              <a:ext uri="{FF2B5EF4-FFF2-40B4-BE49-F238E27FC236}">
                <a16:creationId xmlns:a16="http://schemas.microsoft.com/office/drawing/2014/main" id="{6542CF4B-9D07-45E6-A4B0-1E534E62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7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A reader searches for posts by using up to four keywords.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Keywords can consist of either topics or secondary keywords.</a:t>
            </a:r>
          </a:p>
        </p:txBody>
      </p:sp>
      <p:sp>
        <p:nvSpPr>
          <p:cNvPr id="5" name="browse-panel-title">
            <a:extLst xmlns:a="http://schemas.openxmlformats.org/drawingml/2006/main">
              <a:ext uri="{FF2B5EF4-FFF2-40B4-BE49-F238E27FC236}">
                <a16:creationId xmlns:a16="http://schemas.microsoft.com/office/drawing/2014/main" id="{EC3F7A36-21ED-4769-A913-9586D1D4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0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Browse Topics</a:t>
            </a:r>
          </a:p>
        </p:txBody>
      </p:sp>
      <p:sp>
        <p:nvSpPr>
          <p:cNvPr id="6" name="browse-panel-description">
            <a:extLst xmlns:a="http://schemas.openxmlformats.org/drawingml/2006/main">
              <a:ext uri="{FF2B5EF4-FFF2-40B4-BE49-F238E27FC236}">
                <a16:creationId xmlns:a16="http://schemas.microsoft.com/office/drawing/2014/main" id="{D470D1FB-468B-404C-8DEA-43D8D768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066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333333"/>
                </a:solidFill>
                <a:latin typeface="Arial"/>
                <a:ea typeface="Arial"/>
                <a:cs typeface="Arial"/>
              </a:rPr>
              <a:t>Two subject-area structures are being tested. One will be selected.</a:t>
            </a:r>
          </a:p>
        </p:txBody>
      </p:sp>
      <p:sp>
        <p:nvSpPr>
          <p:cNvPr id="7" name="subject-areas-node">
            <a:extLst xmlns:a="http://schemas.openxmlformats.org/drawingml/2006/main">
              <a:ext uri="{FF2B5EF4-FFF2-40B4-BE49-F238E27FC236}">
                <a16:creationId xmlns:a16="http://schemas.microsoft.com/office/drawing/2014/main" id="{B44DE2FF-4B38-4AA0-A8A9-5B79F2E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4191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3D894"/>
          </a:solidFill>
          <a:ln xmlns:a="http://schemas.openxmlformats.org/drawingml/2006/main" w="23813">
            <a:solidFill>
              <a:srgbClr val="B9872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categories-node">
            <a:extLst xmlns:a="http://schemas.openxmlformats.org/drawingml/2006/main">
              <a:ext uri="{FF2B5EF4-FFF2-40B4-BE49-F238E27FC236}">
                <a16:creationId xmlns:a16="http://schemas.microsoft.com/office/drawing/2014/main" id="{8E11B6A4-9520-4A78-97DD-C4417B4B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38475"/>
            <a:ext cx="4191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4CF"/>
          </a:solidFill>
          <a:ln xmlns:a="http://schemas.openxmlformats.org/drawingml/2006/main" w="23813">
            <a:solidFill>
              <a:srgbClr val="CAA4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opics-node">
            <a:extLst xmlns:a="http://schemas.openxmlformats.org/drawingml/2006/main">
              <a:ext uri="{FF2B5EF4-FFF2-40B4-BE49-F238E27FC236}">
                <a16:creationId xmlns:a16="http://schemas.microsoft.com/office/drawing/2014/main" id="{45147D1D-6CDA-47A5-AB09-3BBECA29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4191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9F3FB"/>
          </a:solidFill>
          <a:ln xmlns:a="http://schemas.openxmlformats.org/drawingml/2006/main" w="23813">
            <a:solidFill>
              <a:srgbClr val="3D7F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browse-posts-node">
            <a:extLst xmlns:a="http://schemas.openxmlformats.org/drawingml/2006/main">
              <a:ext uri="{FF2B5EF4-FFF2-40B4-BE49-F238E27FC236}">
                <a16:creationId xmlns:a16="http://schemas.microsoft.com/office/drawing/2014/main" id="{67F6984B-843B-4CE5-9C6E-E6670977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86425"/>
            <a:ext cx="4191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F4E5"/>
          </a:solidFill>
          <a:ln xmlns:a="http://schemas.openxmlformats.org/drawingml/2006/main" w="23813">
            <a:solidFill>
              <a:srgbClr val="5B93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earch-terms-node">
            <a:extLst xmlns:a="http://schemas.openxmlformats.org/drawingml/2006/main">
              <a:ext uri="{FF2B5EF4-FFF2-40B4-BE49-F238E27FC236}">
                <a16:creationId xmlns:a16="http://schemas.microsoft.com/office/drawing/2014/main" id="{7B911D94-11EE-4645-B54B-8CBF3E52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191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9F3FB"/>
          </a:solidFill>
          <a:ln xmlns:a="http://schemas.openxmlformats.org/drawingml/2006/main" w="23813">
            <a:solidFill>
              <a:srgbClr val="6F6F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econdary-keywords-fill">
            <a:extLst xmlns:a="http://schemas.openxmlformats.org/drawingml/2006/main">
              <a:ext uri="{FF2B5EF4-FFF2-40B4-BE49-F238E27FC236}">
                <a16:creationId xmlns:a16="http://schemas.microsoft.com/office/drawing/2014/main" id="{9CFC8154-69FF-4F95-B8F9-2EDBD56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28900"/>
            <a:ext cx="20955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0EAF7"/>
          </a:solidFill>
          <a:ln xmlns:a="http://schemas.openxmlformats.org/drawingml/2006/main" w="0">
            <a:solidFill>
              <a:srgbClr val="F0EA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econdary-keywords-center-fill">
            <a:extLst xmlns:a="http://schemas.openxmlformats.org/drawingml/2006/main">
              <a:ext uri="{FF2B5EF4-FFF2-40B4-BE49-F238E27FC236}">
                <a16:creationId xmlns:a16="http://schemas.microsoft.com/office/drawing/2014/main" id="{A49212D4-8A4B-433F-9B6F-7C09050B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28900"/>
            <a:ext cx="209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AF7"/>
          </a:solidFill>
          <a:ln xmlns:a="http://schemas.openxmlformats.org/drawingml/2006/main" w="0">
            <a:solidFill>
              <a:srgbClr val="F0EA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earch-terms-outline">
            <a:extLst xmlns:a="http://schemas.openxmlformats.org/drawingml/2006/main">
              <a:ext uri="{FF2B5EF4-FFF2-40B4-BE49-F238E27FC236}">
                <a16:creationId xmlns:a16="http://schemas.microsoft.com/office/drawing/2014/main" id="{0BF5A886-194C-40DC-8F73-A921A26B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191000" cy="857250"/>
          </a:xfrm>
          <a:prstGeom xmlns:a="http://schemas.openxmlformats.org/drawingml/2006/main" prst="roundRect">
            <a:avLst>
              <a:gd name="adj" fmla="val 15556"/>
            </a:avLst>
          </a:prstGeom>
          <a:noFill xmlns:a="http://schemas.openxmlformats.org/drawingml/2006/main"/>
          <a:ln xmlns:a="http://schemas.openxmlformats.org/drawingml/2006/main" w="23813">
            <a:solidFill>
              <a:srgbClr val="6F6F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earch-terms-divider">
            <a:extLst xmlns:a="http://schemas.openxmlformats.org/drawingml/2006/main">
              <a:ext uri="{FF2B5EF4-FFF2-40B4-BE49-F238E27FC236}">
                <a16:creationId xmlns:a16="http://schemas.microsoft.com/office/drawing/2014/main" id="{72522897-0730-46E1-ABA4-9425190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289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6F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earch-posts-node">
            <a:extLst xmlns:a="http://schemas.openxmlformats.org/drawingml/2006/main">
              <a:ext uri="{FF2B5EF4-FFF2-40B4-BE49-F238E27FC236}">
                <a16:creationId xmlns:a16="http://schemas.microsoft.com/office/drawing/2014/main" id="{366B400F-508A-4215-9F1B-852F204F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191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8F4E5"/>
          </a:solidFill>
          <a:ln xmlns:a="http://schemas.openxmlformats.org/drawingml/2006/main" w="23813">
            <a:solidFill>
              <a:srgbClr val="5B93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202" name="Straight Arrow Connector 58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515350" y="2571750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B1F1B"/>
            </a:solidFill>
            <a:prstDash val="solid"/>
            <a:tailEnd type="triangle" w="sm" len="sm"/>
          </a:ln>
        </p:spPr>
      </p:cxnSp>
      <p:cxnSp>
        <p:nvCxnSpPr>
          <p:cNvPr id="203" name="Straight Arrow Connector 59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515350" y="3895725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B1F1B"/>
            </a:solidFill>
            <a:prstDash val="solid"/>
            <a:tailEnd type="triangle" w="sm" len="sm"/>
          </a:ln>
        </p:spPr>
      </p:cxnSp>
      <p:cxnSp>
        <p:nvCxnSpPr>
          <p:cNvPr id="204" name="Straight Arrow Connector 60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515350" y="5219700"/>
            <a:ext cx="0" cy="4667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B1F1B"/>
            </a:solidFill>
            <a:prstDash val="solid"/>
            <a:tailEnd type="triangle" w="sm" len="sm"/>
          </a:ln>
        </p:spPr>
      </p:cxnSp>
      <p:cxnSp>
        <p:nvCxnSpPr>
          <p:cNvPr id="205" name="Straight Arrow Connector 61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914650" y="34861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B1F1B"/>
            </a:solidFill>
            <a:prstDash val="solid"/>
            <a:tailEnd type="triangle" w="sm" len="sm"/>
          </a:ln>
        </p:spPr>
      </p:cxnSp>
      <p:sp>
        <p:nvSpPr>
          <p:cNvPr id="21" name="search-topics-title">
            <a:extLst xmlns:a="http://schemas.openxmlformats.org/drawingml/2006/main">
              <a:ext uri="{FF2B5EF4-FFF2-40B4-BE49-F238E27FC236}">
                <a16:creationId xmlns:a16="http://schemas.microsoft.com/office/drawing/2014/main" id="{ACD22332-7FCD-4440-9DD0-26058292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527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Topics</a:t>
            </a:r>
          </a:p>
        </p:txBody>
      </p:sp>
      <p:sp>
        <p:nvSpPr>
          <p:cNvPr id="22" name="search-topics-count">
            <a:extLst xmlns:a="http://schemas.openxmlformats.org/drawingml/2006/main">
              <a:ext uri="{FF2B5EF4-FFF2-40B4-BE49-F238E27FC236}">
                <a16:creationId xmlns:a16="http://schemas.microsoft.com/office/drawing/2014/main" id="{B690A045-FB30-44D9-A6C7-7E5D72C6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(271 topics)</a:t>
            </a:r>
          </a:p>
        </p:txBody>
      </p:sp>
      <p:sp>
        <p:nvSpPr>
          <p:cNvPr id="23" name="secondary-keywords-title">
            <a:extLst xmlns:a="http://schemas.openxmlformats.org/drawingml/2006/main">
              <a:ext uri="{FF2B5EF4-FFF2-40B4-BE49-F238E27FC236}">
                <a16:creationId xmlns:a16="http://schemas.microsoft.com/office/drawing/2014/main" id="{654B5223-4D6E-4CD5-9E77-05D138B5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7527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6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Secondary Keywords</a:t>
            </a:r>
          </a:p>
        </p:txBody>
      </p:sp>
      <p:sp>
        <p:nvSpPr>
          <p:cNvPr id="24" name="secondary-keywords-count">
            <a:extLst xmlns:a="http://schemas.openxmlformats.org/drawingml/2006/main">
              <a:ext uri="{FF2B5EF4-FFF2-40B4-BE49-F238E27FC236}">
                <a16:creationId xmlns:a16="http://schemas.microsoft.com/office/drawing/2014/main" id="{735C6B87-2BCF-4932-91B7-EF07EB48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(1,567 keywords)</a:t>
            </a:r>
          </a:p>
        </p:txBody>
      </p:sp>
      <p:sp>
        <p:nvSpPr>
          <p:cNvPr id="25" name="search-posts-title">
            <a:extLst xmlns:a="http://schemas.openxmlformats.org/drawingml/2006/main">
              <a:ext uri="{FF2B5EF4-FFF2-40B4-BE49-F238E27FC236}">
                <a16:creationId xmlns:a16="http://schemas.microsoft.com/office/drawing/2014/main" id="{3D05D054-C7FA-4FEB-9AC1-AD9411CB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6717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Posts</a:t>
            </a:r>
          </a:p>
        </p:txBody>
      </p:sp>
      <p:sp>
        <p:nvSpPr>
          <p:cNvPr id="26" name="search-posts-detail">
            <a:extLst xmlns:a="http://schemas.openxmlformats.org/drawingml/2006/main">
              <a:ext uri="{FF2B5EF4-FFF2-40B4-BE49-F238E27FC236}">
                <a16:creationId xmlns:a16="http://schemas.microsoft.com/office/drawing/2014/main" id="{361A3AA9-4F61-45F4-A420-09158AAB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(4,385 posts)</a:t>
            </a:r>
          </a:p>
        </p:txBody>
      </p:sp>
      <p:sp>
        <p:nvSpPr>
          <p:cNvPr id="27" name="definition-subject-areas-label">
            <a:extLst xmlns:a="http://schemas.openxmlformats.org/drawingml/2006/main">
              <a:ext uri="{FF2B5EF4-FFF2-40B4-BE49-F238E27FC236}">
                <a16:creationId xmlns:a16="http://schemas.microsoft.com/office/drawing/2014/main" id="{0AF6DD74-1B74-4EF2-8C3D-A7CFF948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Subject Areas:</a:t>
            </a:r>
          </a:p>
        </p:txBody>
      </p:sp>
      <p:sp>
        <p:nvSpPr>
          <p:cNvPr id="28" name="definition-subject-areas-detail">
            <a:extLst xmlns:a="http://schemas.openxmlformats.org/drawingml/2006/main">
              <a:ext uri="{FF2B5EF4-FFF2-40B4-BE49-F238E27FC236}">
                <a16:creationId xmlns:a16="http://schemas.microsoft.com/office/drawing/2014/main" id="{00DC7FD3-C452-474A-BE9E-C3FB723F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Broad groupings that organize related categories.</a:t>
            </a:r>
          </a:p>
        </p:txBody>
      </p:sp>
      <p:sp>
        <p:nvSpPr>
          <p:cNvPr id="29" name="definition-categories-label">
            <a:extLst xmlns:a="http://schemas.openxmlformats.org/drawingml/2006/main">
              <a:ext uri="{FF2B5EF4-FFF2-40B4-BE49-F238E27FC236}">
                <a16:creationId xmlns:a16="http://schemas.microsoft.com/office/drawing/2014/main" id="{7C33C4BB-D71B-43D7-947B-435CBCD7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Categories:</a:t>
            </a:r>
          </a:p>
        </p:txBody>
      </p:sp>
      <p:sp>
        <p:nvSpPr>
          <p:cNvPr id="30" name="definition-categories-detail">
            <a:extLst xmlns:a="http://schemas.openxmlformats.org/drawingml/2006/main">
              <a:ext uri="{FF2B5EF4-FFF2-40B4-BE49-F238E27FC236}">
                <a16:creationId xmlns:a16="http://schemas.microsoft.com/office/drawing/2014/main" id="{C58CC294-E5EC-4912-8A75-7FD3DB84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91200"/>
            <a:ext cx="3848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Focused groupings of related topics.</a:t>
            </a:r>
          </a:p>
        </p:txBody>
      </p:sp>
      <p:sp>
        <p:nvSpPr>
          <p:cNvPr id="31" name="definition-topics-label">
            <a:extLst xmlns:a="http://schemas.openxmlformats.org/drawingml/2006/main">
              <a:ext uri="{FF2B5EF4-FFF2-40B4-BE49-F238E27FC236}">
                <a16:creationId xmlns:a16="http://schemas.microsoft.com/office/drawing/2014/main" id="{ACF0B6A8-DA26-4B78-86D5-1283579A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Topics:</a:t>
            </a:r>
          </a:p>
        </p:txBody>
      </p:sp>
      <p:sp>
        <p:nvSpPr>
          <p:cNvPr id="32" name="definition-topics-detail">
            <a:extLst xmlns:a="http://schemas.openxmlformats.org/drawingml/2006/main">
              <a:ext uri="{FF2B5EF4-FFF2-40B4-BE49-F238E27FC236}">
                <a16:creationId xmlns:a16="http://schemas.microsoft.com/office/drawing/2014/main" id="{2C60B3E1-AC15-4F99-AC36-0A4E8DE3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91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Specific subjects used to connect related posts.</a:t>
            </a:r>
          </a:p>
        </p:txBody>
      </p:sp>
      <p:sp>
        <p:nvSpPr>
          <p:cNvPr id="33" name="definition-secondary-keywords-label">
            <a:extLst xmlns:a="http://schemas.openxmlformats.org/drawingml/2006/main">
              <a:ext uri="{FF2B5EF4-FFF2-40B4-BE49-F238E27FC236}">
                <a16:creationId xmlns:a16="http://schemas.microsoft.com/office/drawing/2014/main" id="{E95C92F6-0FC5-44E1-8720-AF667BD0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99" y="6591300"/>
            <a:ext cx="167558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Secondary Keywords:</a:t>
            </a:r>
          </a:p>
        </p:txBody>
      </p:sp>
      <p:sp>
        <p:nvSpPr>
          <p:cNvPr id="34" name="definition-secondary-keywords-detail">
            <a:extLst xmlns:a="http://schemas.openxmlformats.org/drawingml/2006/main">
              <a:ext uri="{FF2B5EF4-FFF2-40B4-BE49-F238E27FC236}">
                <a16:creationId xmlns:a16="http://schemas.microsoft.com/office/drawing/2014/main" id="{84F6749A-FCE3-4AC9-B9C3-E1677A51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088" y="6572250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3333"/>
                </a:solidFill>
                <a:latin typeface="Arial"/>
                <a:ea typeface="Arial"/>
                <a:cs typeface="Arial"/>
              </a:rPr>
              <a:t>Keywords identified in the individual blog posts.</a:t>
            </a:r>
          </a:p>
        </p:txBody>
      </p:sp>
      <p:sp>
        <p:nvSpPr>
          <p:cNvPr id="35" name="subject-areas-title">
            <a:extLst xmlns:a="http://schemas.openxmlformats.org/drawingml/2006/main">
              <a:ext uri="{FF2B5EF4-FFF2-40B4-BE49-F238E27FC236}">
                <a16:creationId xmlns:a16="http://schemas.microsoft.com/office/drawing/2014/main" id="{BF3AE88F-90B2-4B7C-8ABB-29602A0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383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Browse Topics 1</a:t>
            </a:r>
          </a:p>
        </p:txBody>
      </p:sp>
      <p:sp>
        <p:nvSpPr>
          <p:cNvPr id="36" name="subject-areas-detail">
            <a:extLst xmlns:a="http://schemas.openxmlformats.org/drawingml/2006/main">
              <a:ext uri="{FF2B5EF4-FFF2-40B4-BE49-F238E27FC236}">
                <a16:creationId xmlns:a16="http://schemas.microsoft.com/office/drawing/2014/main" id="{8F0D9F53-2EB0-41D7-AE2D-A0194EE0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 (</a:t>
            </a:r>
            <a:r>
              <a:rPr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10 subject areas</a:t>
            </a:r>
            <a:r>
              <a:rPr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37" name="categories-title">
            <a:extLst xmlns:a="http://schemas.openxmlformats.org/drawingml/2006/main">
              <a:ext uri="{FF2B5EF4-FFF2-40B4-BE49-F238E27FC236}">
                <a16:creationId xmlns:a16="http://schemas.microsoft.com/office/drawing/2014/main" id="{2E511F9A-A9D9-44A3-B149-672D2417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Categories</a:t>
            </a:r>
          </a:p>
        </p:txBody>
      </p:sp>
      <p:sp>
        <p:nvSpPr>
          <p:cNvPr id="38" name="categories-detail">
            <a:extLst xmlns:a="http://schemas.openxmlformats.org/drawingml/2006/main">
              <a:ext uri="{FF2B5EF4-FFF2-40B4-BE49-F238E27FC236}">
                <a16:creationId xmlns:a16="http://schemas.microsoft.com/office/drawing/2014/main" id="{A4E0D989-2AE5-4778-932A-F899A511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95675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 (41 categories)</a:t>
            </a:r>
          </a:p>
        </p:txBody>
      </p:sp>
      <p:sp>
        <p:nvSpPr>
          <p:cNvPr id="39" name="topics-title">
            <a:extLst xmlns:a="http://schemas.openxmlformats.org/drawingml/2006/main">
              <a:ext uri="{FF2B5EF4-FFF2-40B4-BE49-F238E27FC236}">
                <a16:creationId xmlns:a16="http://schemas.microsoft.com/office/drawing/2014/main" id="{EB2AD788-89E5-4039-A02C-BE16A2EC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86275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Topics</a:t>
            </a:r>
          </a:p>
        </p:txBody>
      </p:sp>
      <p:sp>
        <p:nvSpPr>
          <p:cNvPr id="40" name="topics-detail">
            <a:extLst xmlns:a="http://schemas.openxmlformats.org/drawingml/2006/main">
              <a:ext uri="{FF2B5EF4-FFF2-40B4-BE49-F238E27FC236}">
                <a16:creationId xmlns:a16="http://schemas.microsoft.com/office/drawing/2014/main" id="{867A19FD-319E-4FF4-9445-1A474687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196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(271 topics)</a:t>
            </a:r>
          </a:p>
        </p:txBody>
      </p:sp>
      <p:sp>
        <p:nvSpPr>
          <p:cNvPr id="41" name="browse-posts-title">
            <a:extLst xmlns:a="http://schemas.openxmlformats.org/drawingml/2006/main">
              <a:ext uri="{FF2B5EF4-FFF2-40B4-BE49-F238E27FC236}">
                <a16:creationId xmlns:a16="http://schemas.microsoft.com/office/drawing/2014/main" id="{8116EA9F-B048-43E3-A80D-22EDAC95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102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Posts</a:t>
            </a:r>
          </a:p>
        </p:txBody>
      </p:sp>
      <p:sp>
        <p:nvSpPr>
          <p:cNvPr id="42" name="browse-posts-detail">
            <a:extLst xmlns:a="http://schemas.openxmlformats.org/drawingml/2006/main">
              <a:ext uri="{FF2B5EF4-FFF2-40B4-BE49-F238E27FC236}">
                <a16:creationId xmlns:a16="http://schemas.microsoft.com/office/drawing/2014/main" id="{219D03BF-B12B-4305-86D8-24B5FB2F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143625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 </a:t>
            </a:r>
            <a:r>
              <a:rPr sz="1650">
                <a:solidFill>
                  <a:srgbClr val="333333"/>
                </a:solidFill>
                <a:latin typeface="Arial"/>
                <a:ea typeface="Arial"/>
                <a:cs typeface="Arial"/>
              </a:rPr>
              <a:t>(4,385 posts)</a:t>
            </a:r>
          </a:p>
        </p:txBody>
      </p:sp>
      <p:sp>
        <p:nvSpPr>
          <p:cNvPr id="83" name="browse-options-divider">
            <a:extLst xmlns:a="http://schemas.openxmlformats.org/drawingml/2006/main">
              <a:ext uri="{FF2B5EF4-FFF2-40B4-BE49-F238E27FC236}">
                <a16:creationId xmlns:a16="http://schemas.microsoft.com/office/drawing/2014/main" id="{9C1A0C7E-D342-4699-B8C4-88A4CA53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98729"/>
            </a:solidFill>
            <a:prstDash val="solid"/>
          </a:ln>
        </p:spPr>
      </p:sp>
      <p:sp>
        <p:nvSpPr>
          <p:cNvPr id="84" name="browse-topics-2-title">
            <a:extLst xmlns:a="http://schemas.openxmlformats.org/drawingml/2006/main">
              <a:ext uri="{FF2B5EF4-FFF2-40B4-BE49-F238E27FC236}">
                <a16:creationId xmlns:a16="http://schemas.microsoft.com/office/drawing/2014/main" id="{8F57D405-CDF0-468D-A642-B69B5EC5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383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Browse Topics 2</a:t>
            </a:r>
          </a:p>
        </p:txBody>
      </p:sp>
      <p:sp>
        <p:nvSpPr>
          <p:cNvPr id="85" name="browse-topics-2-detail">
            <a:extLst xmlns:a="http://schemas.openxmlformats.org/drawingml/2006/main">
              <a:ext uri="{FF2B5EF4-FFF2-40B4-BE49-F238E27FC236}">
                <a16:creationId xmlns:a16="http://schemas.microsoft.com/office/drawing/2014/main" id="{2A89314D-ACAB-48A0-BE6C-CE174C0A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333333"/>
                </a:solidFill>
                <a:latin typeface="Arial"/>
                <a:ea typeface="Arial"/>
                <a:cs typeface="Arial"/>
              </a:rPr>
              <a:t> (9 subject areas)</a:t>
            </a:r>
          </a:p>
        </p:txBody>
      </p:sp>
    </p:spTree>
    <p:extLst>
      <p:ext uri="{BB962C8B-B14F-4D97-AF65-F5344CB8AC3E}">
        <p14:creationId xmlns:p14="http://schemas.microsoft.com/office/powerpoint/2010/main" val="1294858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2026-07-26T17:23:46.8120000Z</dcterms:created>
  <dcterms:modified xsi:type="dcterms:W3CDTF">2026-07-26T17:23:46.8120000Z</dcterms:modified>
</coreProperties>
</file>