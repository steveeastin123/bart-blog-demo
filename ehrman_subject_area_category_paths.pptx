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3e1a29ad7e4328" /><Relationship Type="http://schemas.openxmlformats.org/officeDocument/2006/relationships/extended-properties" Target="/docProps/app.xml" Id="R9af3400fbe0045e5" /><Relationship Type="http://schemas.openxmlformats.org/officeDocument/2006/relationships/officeDocument" Target="/ppt/presentation.xml" Id="R592eafeda90a45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4119eb866463c"/>
  </p:sldMasterIdLst>
  <p:notesMasterIdLst>
    <p:notesMasterId xmlns:r="http://schemas.openxmlformats.org/officeDocument/2006/relationships" r:id="R50417fa03b8b4701"/>
  </p:notesMasterIdLst>
  <p:sldIdLst>
    <p:sldId xmlns:r="http://schemas.openxmlformats.org/officeDocument/2006/relationships" id="256" r:id="R2cee4420e75d4c3a"/>
    <p:sldId xmlns:r="http://schemas.openxmlformats.org/officeDocument/2006/relationships" id="257" r:id="Rdf728c0d6a1d4b35"/>
    <p:sldId xmlns:r="http://schemas.openxmlformats.org/officeDocument/2006/relationships" id="258" r:id="Rd7827ec9af144537"/>
    <p:sldId xmlns:r="http://schemas.openxmlformats.org/officeDocument/2006/relationships" id="259" r:id="R140b663ac2c34c87"/>
    <p:sldId xmlns:r="http://schemas.openxmlformats.org/officeDocument/2006/relationships" id="260" r:id="R63aad25549a34b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4560a02aad4299" /><Relationship Type="http://schemas.openxmlformats.org/officeDocument/2006/relationships/slideMaster" Target="/ppt/slideMasters/slideMaster1.xml" Id="R74f4119eb866463c" /><Relationship Type="http://schemas.openxmlformats.org/officeDocument/2006/relationships/notesMaster" Target="/ppt/notesMasters/notesMaster1.xml" Id="R50417fa03b8b4701" /><Relationship Type="http://schemas.openxmlformats.org/officeDocument/2006/relationships/presProps" Target="/ppt/presProps.xml" Id="R4333c123f5ad4aca" /><Relationship Type="http://schemas.openxmlformats.org/officeDocument/2006/relationships/tableStyles" Target="/ppt/tableStyles.xml" Id="Re7779bba68614f7a" /><Relationship Type="http://schemas.openxmlformats.org/officeDocument/2006/relationships/slide" Target="/ppt/slides/slide1.xml" Id="R2cee4420e75d4c3a" /><Relationship Type="http://schemas.openxmlformats.org/officeDocument/2006/relationships/slide" Target="/ppt/slides/slide2.xml" Id="Rdf728c0d6a1d4b35" /><Relationship Type="http://schemas.openxmlformats.org/officeDocument/2006/relationships/slide" Target="/ppt/slides/slide3.xml" Id="Rd7827ec9af144537" /><Relationship Type="http://schemas.openxmlformats.org/officeDocument/2006/relationships/slide" Target="/ppt/slides/slide4.xml" Id="R140b663ac2c34c87" /><Relationship Type="http://schemas.openxmlformats.org/officeDocument/2006/relationships/slide" Target="/ppt/slides/slide5.xml" Id="R63aad25549a34b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61cbb703749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959717fcc2434e" /><Relationship Type="http://schemas.openxmlformats.org/officeDocument/2006/relationships/notesMaster" Target="/ppt/notesMasters/notesMaster1.xml" Id="R75b9ce7ed3fb47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300350a62f4a89" /><Relationship Type="http://schemas.openxmlformats.org/officeDocument/2006/relationships/notesMaster" Target="/ppt/notesMasters/notesMaster1.xml" Id="Ra4640bf7dcf646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2b69fe73d74e0f" /><Relationship Type="http://schemas.openxmlformats.org/officeDocument/2006/relationships/notesMaster" Target="/ppt/notesMasters/notesMaster1.xml" Id="Raa37d978e6ef48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93f667ed4646ee" /><Relationship Type="http://schemas.openxmlformats.org/officeDocument/2006/relationships/notesMaster" Target="/ppt/notesMasters/notesMaster1.xml" Id="R25decaaf416143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e4049dfffa4621" /><Relationship Type="http://schemas.openxmlformats.org/officeDocument/2006/relationships/notesMaster" Target="/ppt/notesMasters/notesMaster1.xml" Id="Re3239635471445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data/index/ehrman_post_subject_areas.json</a:t>
            </a:r>
          </a:p>
          <a:p xmlns:a="http://schemas.openxmlformats.org/drawingml/2006/main">
            <a:r>
              <a:t>- data/index/ehrman_post_subject_areas_2.json</a:t>
            </a:r>
          </a:p>
          <a:p xmlns:a="http://schemas.openxmlformats.org/drawingml/2006/main">
            <a:r>
              <a:t>- data/index/ehrman_post_categories.json</a:t>
            </a:r>
          </a:p>
          <a:p xmlns:a="http://schemas.openxmlformats.org/drawingml/2006/main">
            <a:r>
              <a:t>- data/index/ehrman_post_topics.json</a:t>
            </a:r>
          </a:p>
          <a:p xmlns:a="http://schemas.openxmlformats.org/drawingml/2006/main">
            <a:r>
              <a:t>- data/index/ehrman_post_search_index.json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data/index/ehrman_post_subject_areas.json</a:t>
            </a:r>
          </a:p>
          <a:p xmlns:a="http://schemas.openxmlformats.org/drawingml/2006/main">
            <a:r>
              <a:t>- data/index/ehrman_post_subject_areas_2.json</a:t>
            </a:r>
          </a:p>
          <a:p xmlns:a="http://schemas.openxmlformats.org/drawingml/2006/main">
            <a:r>
              <a:t>- data/index/ehrman_post_categories.json</a:t>
            </a:r>
          </a:p>
          <a:p xmlns:a="http://schemas.openxmlformats.org/drawingml/2006/main">
            <a:r>
              <a:t>- data/index/ehrman_post_topics.json</a:t>
            </a:r>
          </a:p>
          <a:p xmlns:a="http://schemas.openxmlformats.org/drawingml/2006/main">
            <a:r>
              <a:t>- data/index/ehrman_post_search_index.json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data/index/ehrman_post_subject_areas.json</a:t>
            </a:r>
          </a:p>
          <a:p xmlns:a="http://schemas.openxmlformats.org/drawingml/2006/main">
            <a:r>
              <a:t>- data/index/ehrman_post_subject_areas_2.json</a:t>
            </a:r>
          </a:p>
          <a:p xmlns:a="http://schemas.openxmlformats.org/drawingml/2006/main">
            <a:r>
              <a:t>- data/index/ehrman_post_categories.json</a:t>
            </a:r>
          </a:p>
          <a:p xmlns:a="http://schemas.openxmlformats.org/drawingml/2006/main">
            <a:r>
              <a:t>- data/index/ehrman_post_topics.json</a:t>
            </a:r>
          </a:p>
          <a:p xmlns:a="http://schemas.openxmlformats.org/drawingml/2006/main">
            <a:r>
              <a:t>- data/index/ehrman_post_search_index.json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data/index/ehrman_post_subject_areas.json</a:t>
            </a:r>
          </a:p>
          <a:p xmlns:a="http://schemas.openxmlformats.org/drawingml/2006/main">
            <a:r>
              <a:t>- data/index/ehrman_post_subject_areas_2.json</a:t>
            </a:r>
          </a:p>
          <a:p xmlns:a="http://schemas.openxmlformats.org/drawingml/2006/main">
            <a:r>
              <a:t>- data/index/ehrman_post_categories.json</a:t>
            </a:r>
          </a:p>
          <a:p xmlns:a="http://schemas.openxmlformats.org/drawingml/2006/main">
            <a:r>
              <a:t>- data/index/ehrman_post_topics.json</a:t>
            </a:r>
          </a:p>
          <a:p xmlns:a="http://schemas.openxmlformats.org/drawingml/2006/main">
            <a:r>
              <a:t>- data/index/ehrman_post_search_index.json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data/index/ehrman_post_subject_areas.json</a:t>
            </a:r>
          </a:p>
          <a:p xmlns:a="http://schemas.openxmlformats.org/drawingml/2006/main">
            <a:r>
              <a:t>- data/index/ehrman_post_subject_areas_2.json</a:t>
            </a:r>
          </a:p>
          <a:p xmlns:a="http://schemas.openxmlformats.org/drawingml/2006/main">
            <a:r>
              <a:t>- data/index/ehrman_post_categories.json</a:t>
            </a:r>
          </a:p>
          <a:p xmlns:a="http://schemas.openxmlformats.org/drawingml/2006/main">
            <a:r>
              <a:t>- data/index/ehrman_post_topics.json</a:t>
            </a:r>
          </a:p>
          <a:p xmlns:a="http://schemas.openxmlformats.org/drawingml/2006/main">
            <a:r>
              <a:t>- data/index/ehrman_post_search_index.json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d0036722c45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956934d174d38" /><Relationship Type="http://schemas.openxmlformats.org/officeDocument/2006/relationships/slideLayout" Target="/ppt/slideLayouts/slideLayout1.xml" Id="R01ff88fabc4241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ff88fabc4241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24987b4c5463c" /><Relationship Type="http://schemas.openxmlformats.org/officeDocument/2006/relationships/notesSlide" Target="/ppt/notesSlides/notesSlide1.xml" Id="Ra4cb818c18eb40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4887ae8564ef7" /><Relationship Type="http://schemas.openxmlformats.org/officeDocument/2006/relationships/notesSlide" Target="/ppt/notesSlides/notesSlide2.xml" Id="Rbeb395709d2f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c268d93fc433c" /><Relationship Type="http://schemas.openxmlformats.org/officeDocument/2006/relationships/notesSlide" Target="/ppt/notesSlides/notesSlide3.xml" Id="Rd110bd9152624f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96934d04d44f4" /><Relationship Type="http://schemas.openxmlformats.org/officeDocument/2006/relationships/notesSlide" Target="/ppt/notesSlides/notesSlide4.xml" Id="R3519daf1d2c34c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8990d8c584924" /><Relationship Type="http://schemas.openxmlformats.org/officeDocument/2006/relationships/notesSlide" Target="/ppt/notesSlides/notesSlide5.xml" Id="R0bea60c26d0a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DB17BA3-3E47-4C44-A78B-AE65567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67250"/>
            <a:ext cx="36195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DF2DA-D878-4AEB-B596-B5F4E793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361950" cy="4286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361F4-B054-48EF-8864-381AEEC4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96265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27681-941E-4AD0-B0D8-1EAB5190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96265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9A3B"/>
          </a:solidFill>
          <a:ln xmlns:a="http://schemas.openxmlformats.org/drawingml/2006/main" w="0">
            <a:solidFill>
              <a:srgbClr val="C79A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C2E5B-115B-42E4-9878-B31BD83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2933"/>
                </a:solidFill>
              </a:defRPr>
            </a:pPr>
            <a:r>
              <a:rPr sz="3300" b="1">
                <a:solidFill>
                  <a:srgbClr val="1F2933"/>
                </a:solidFill>
              </a:rPr>
              <a:t>Two browsing paths organize the same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8175C-9F3C-4A7F-992A-AB9AD1CB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7A"/>
                </a:solidFill>
              </a:defRPr>
            </a:pPr>
            <a:r>
              <a:rPr sz="1575" b="0">
                <a:solidFill>
                  <a:srgbClr val="64707A"/>
                </a:solidFill>
              </a:rPr>
              <a:t>Subject areas change; the underlying categories, topics, and posts stay the same.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56CDD-0FD4-422E-9F2F-8EFFC916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475D0-B1F4-47CF-8CC0-90CE6522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4292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3E4DF"/>
          </a:solidFill>
          <a:ln xmlns:a="http://schemas.openxmlformats.org/drawingml/2006/main" w="9525">
            <a:solidFill>
              <a:srgbClr val="7A21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360AD-9366-405F-8FD1-399051C3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A211C"/>
                </a:solidFill>
              </a:defRPr>
            </a:pPr>
            <a:r>
              <a:rPr sz="2025" b="1">
                <a:solidFill>
                  <a:srgbClr val="7A211C"/>
                </a:solidFill>
              </a:rPr>
              <a:t>Browse Topics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695BC-FB8A-42FF-9F65-CB334C69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D6BAE-3EE7-4769-8350-861C3FBC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Jesus, the Gospels, and 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84BCD-5700-42B9-B43E-C5EF1A5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6 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8690B-4736-45E5-AF57-4DBFFC2B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99C5F-80D2-4F6F-A38B-2A144E80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Paul and the Epistles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EC84F-B866-43AD-819F-416D48CA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110B9-A1DA-42AD-9A3B-9910C844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2E380-4F6B-49B7-AE6E-D066558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Hebrew Bible and Early Judaism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AA361-3C1E-484D-AB14-1873461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2 categories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8B30C-41D2-4751-9407-A2DC709C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A9051-118B-4F5E-95F9-2319CE8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Early Christianity, Church History, and Diversity of Belief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13BE5-E4FD-4003-B3DA-CD7B0289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6 categories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F4276-140E-4090-A837-82838FD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82190-9664-44F5-8BEA-C6ED250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Manuscripts, Canon, and Bible Translations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73327-05CA-45FF-9805-A76E6F54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4594B3-7323-48E3-8B94-A958B06F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8021D-DCAF-42FE-93CE-E3A9B327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669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Authorship, Forgery, and Historical Methods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AE05D-FB32-49DD-8CAE-62A02DB9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193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8453F-DF5B-486F-84E8-A82FEB54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EC810-92DF-4D26-AADB-295A475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812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Theology, Belief, and Supernatural Claims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16EF9-89FC-47E5-AD6B-841FE42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337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73EFF9-45B8-4F42-87D0-3EFDA91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4FDDF1-6AF0-4438-ACC7-EBFFD96F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956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Afterlife, Revelation, End Times, and Suffering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E860B-2E7B-450B-9F0B-3F211638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480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3 categories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412A78-A19F-40CC-8482-52D6E679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8389A8-4F39-457C-9A3C-717B6AC6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099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Ancient Society, Ethics, and Social Issues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4F5A63-4B83-4FA6-BA28-6048EDA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9624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3484B7-E513-4A15-B028-408F7B4F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230D56-584F-4BEE-B75B-4884DD8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1243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Books, Teaching, Media, and Blog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B536CE-F6E0-423B-AC94-FB45396A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767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3FB9F4-211F-48F8-B447-18D86D36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54292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4F0F7"/>
          </a:solidFill>
          <a:ln xmlns:a="http://schemas.openxmlformats.org/drawingml/2006/main" w="9525">
            <a:solidFill>
              <a:srgbClr val="0B5F9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79FB81-D50C-477E-A8E4-4490025A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5F91"/>
                </a:solidFill>
              </a:defRPr>
            </a:pPr>
            <a:r>
              <a:rPr sz="2025" b="1">
                <a:solidFill>
                  <a:srgbClr val="0B5F91"/>
                </a:solidFill>
              </a:rPr>
              <a:t>Browse Topics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4847CD-2B12-4235-8450-D52A6C4D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E8F48E-5B87-496B-902B-1EEB3432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New Testament Writings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95AEEB-CC7A-4676-8BD4-078301BB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DE68D6-01B3-471A-BC56-A2D3A980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E2D82C-5D2B-4575-A0C6-AF6A2DAC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Jesus, Paul, and Other New Testament Figures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F0A12-28D4-4BFB-9AAE-32AB10FA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8 categories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E5FF9D-72FE-4F6C-B64D-2D5132F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22AF47-E81E-4614-A623-A3B628F4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Early Christianity and Ancient Context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261BC3-D6EC-43FB-ABDE-41E9CA5C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6 categories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603A24-592A-497E-AED6-9346F1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FCC701-B9D1-4116-82B2-7392C9B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Theology, Faith, and Nonbelief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A3CB0B-E2CC-472D-BC07-57AF76E2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5 categories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066FDD-48F2-4BC1-A1D7-CB19E940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0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A2DEB8-A390-4209-A064-8DD3CD51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Afterlife, Miracles, and Supernatural Claims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ADA06C-E08A-4D3F-81E4-78799993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2 categories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97C3DF-8E17-4093-8FD9-09031BA7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D41FA6-90A5-49D8-97B3-67497C37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669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Ethics and Social Issues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E00B17-DD6D-4C73-83E3-EA98103C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3 categories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1F2C9D-3FE4-4CAB-93A1-C63E7EB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AAB543-759B-49AE-A2BE-E760176D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812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Hebrew Bible and Early Judaism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99F16B-DC29-4B58-AE11-566E28E9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337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2 categories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B77018-693D-424D-AF16-4B6E343C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71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CA77A2-522E-4BAC-AD82-11C8E4E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956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Texts, Manuscripts, and Methods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FCC84B-27A2-4B44-8574-00AB6CC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4805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8 categories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9CB35F-1E2D-4DF9-B0D7-87F0551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0B7F9C-E4D9-45ED-87FC-81B27ED5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099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Books, Scholarship, and the Blog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D230157-3887-4653-B873-C4BD1530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962400"/>
            <a:ext cx="2238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4 categories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C55930-D4FC-43AB-8BF3-A9F6E68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438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7A211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90E11C-3D44-49DC-9661-0D822BA6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211C"/>
                </a:solidFill>
              </a:defRPr>
            </a:pPr>
            <a:r>
              <a:rPr sz="1350" b="1">
                <a:solidFill>
                  <a:srgbClr val="7A211C"/>
                </a:solidFill>
              </a:rPr>
              <a:t>10 subject areas lead to 41 category links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4426A2-3845-4C42-9BFA-2240606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62575"/>
            <a:ext cx="400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7A"/>
                </a:solidFill>
              </a:defRPr>
            </a:pPr>
            <a:r>
              <a:rPr sz="1050" b="0">
                <a:solidFill>
                  <a:srgbClr val="64707A"/>
                </a:solidFill>
              </a:rPr>
              <a:t>Every category appears once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BC64180-835C-41F7-9BCC-E6D5A90B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19675"/>
            <a:ext cx="438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0B5F9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F4EBD4-7056-482F-A904-D4C72F27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F91"/>
                </a:solidFill>
              </a:defRPr>
            </a:pPr>
            <a:r>
              <a:rPr sz="1350" b="1">
                <a:solidFill>
                  <a:srgbClr val="0B5F91"/>
                </a:solidFill>
              </a:rPr>
              <a:t>9 subject areas lead to 42 category links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04624F-EFD1-4E2B-893F-BCAC5B6A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62575"/>
            <a:ext cx="400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07A"/>
                </a:solidFill>
              </a:defRPr>
            </a:pPr>
            <a:r>
              <a:rPr sz="1050" b="0">
                <a:solidFill>
                  <a:srgbClr val="64707A"/>
                </a:solidFill>
              </a:rPr>
              <a:t>Pauline Epistles appears in two subject areas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E51985-408C-4CA2-B804-FF82D844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29300"/>
            <a:ext cx="8058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9A3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E232768-DB7F-4712-AE6D-F8D03D0A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24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A211C"/>
                </a:solidFill>
              </a:defRPr>
            </a:pPr>
            <a:r>
              <a:rPr sz="1725" b="1">
                <a:solidFill>
                  <a:srgbClr val="7A211C"/>
                </a:solidFill>
              </a:rPr>
              <a:t>41 shared categories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B27BC79-4681-4F3C-B671-1AFF4FEB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245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A211C"/>
                </a:solidFill>
              </a:defRPr>
            </a:pPr>
            <a:r>
              <a:rPr sz="1725" b="1">
                <a:solidFill>
                  <a:srgbClr val="7A211C"/>
                </a:solidFill>
              </a:rPr>
              <a:t>271 linked topics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88FDC2-CAB9-4DFC-AC68-D09551D5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924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5F91"/>
                </a:solidFill>
              </a:defRPr>
            </a:pPr>
            <a:r>
              <a:rPr sz="1725" b="1">
                <a:solidFill>
                  <a:srgbClr val="0B5F91"/>
                </a:solidFill>
              </a:rPr>
              <a:t>4,390 posts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683E34-0D5B-40C2-B2D9-854720A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Current Ehrman Blog Demo metadata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B05421-2F25-4BB1-96F4-AE825C33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8007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462082-A5BF-47BE-8172-95616FB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211C"/>
                </a:solidFill>
              </a:defRPr>
            </a:pPr>
            <a:r>
              <a:rPr sz="1125" b="1">
                <a:solidFill>
                  <a:srgbClr val="7A211C"/>
                </a:solidFill>
              </a:rPr>
              <a:t>BROWSE TOPICS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2FE36-5A94-444D-99AC-269A967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</a:defRPr>
            </a:pPr>
            <a:r>
              <a:rPr sz="3150" b="1">
                <a:solidFill>
                  <a:srgbClr val="1F2933"/>
                </a:solidFill>
              </a:rPr>
              <a:t>Browse Topics 1: subject areas 1-5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375CA-F4D2-44B0-AFF1-71EE468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A"/>
                </a:solidFill>
              </a:defRPr>
            </a:pPr>
            <a:r>
              <a:rPr sz="1425" b="0">
                <a:solidFill>
                  <a:srgbClr val="64707A"/>
                </a:solidFill>
              </a:rPr>
              <a:t>Each category appears once; topic counts show the next level without crowding the slide.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FB9FF-2DEE-492E-88D5-50F2C86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7C554-2FD3-494F-88C3-4FDEED6E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BC14A-6A8A-49D3-BD36-6718A495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5BC5-573D-4943-A457-804C74BB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Jesus, the Gospels, and 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9AF1A-98DB-476D-9B57-B0AFC767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Historical Jesus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A7897-0F53-4388-B6D9-9E450C6F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AC5BC-2093-4CAE-85F1-F8EE1AD1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Jesus' Birth, Family, and Miracles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E04F3-D613-4479-9F4C-2495003C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0924-2FEA-4DB7-90D0-2BB4B546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Jesus' Teachings and Social World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7D4EC-BAB0-4E2A-B59C-E48B8CA1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F39C7-900D-45ED-8162-A0115FE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Jesus' Death, Burial, and Resurrection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8D59B-B7EB-4362-9AF0-561BA8A1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98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11 topics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42B59-895E-490D-AA57-35776B6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Canonical Gospels and 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1D1C5-3737-405F-B7D2-FDA775E3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70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16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80D90-F13D-4BC4-981D-B7B67A34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New Testament Figures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0DB5C-0124-4435-A21B-A73489E5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242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6 topics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365E3-BCC0-4FBE-B24A-8E244970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F9649-92E9-4A22-9A0D-05CCE92E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Paul and the Epistles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16C05-6F7F-42DB-A47E-E33FD351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Paul's Life, Mission, and Communities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ED47B-942D-441D-B29D-54F8A80D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2B346-54E8-4A3A-9A96-74574CEA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Pauline Epistles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F173E-D001-4B19-B26B-2ACEB86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17 topics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50FB83-D339-4A86-896B-397F4A0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Non-Pauline Epistles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5F8F07-AEFB-4D74-8E2C-61504C95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720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B6D1D-2DBC-462A-96E1-3011AD60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Pauline Thought and Practice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16FB2D-1246-4569-B8D3-FADBD372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291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5BDAA-83D3-428C-925F-BD3A996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0AB5B-F677-4F7B-8674-D58FE5C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Hebrew Bible and Early Judaism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A4F11-3261-48FB-BE47-E987F39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Hebrew Bible Texts and Traditions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A30B6E-61AD-4974-A691-5CEF1F2B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626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14 topics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DCD5B8-EC86-49EA-9329-061DEF79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9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Early Judaism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2B927-4F76-4796-A7FC-6304A473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197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A8BFE2-EC9C-4164-867F-FE80B95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DEB2E7-90CA-4AA3-A712-C6053EB3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Early Christianity, Church History, and Diversity of Belief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CB4B8F-EAAD-4BBE-8AD0-66F3ACEC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Christian Origins and Expansion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245DC6-CE0B-4DF2-872E-EA3FB38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CB0BE9-B9CF-4814-B240-B80B33C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Non-Canonical Christian Texts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62BAE5-28FC-4789-9E23-6C2BCA5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16 topics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5AA864-3EBF-44F7-A23C-7960F71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Gnosticism, Orthodoxy, and Heresy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1C8A7-0735-460F-8124-EEA88390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A47BEA-CC96-48EE-AB31-96056FB9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Persecution and Martyrdom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0F383B-9E78-4BAD-8413-B667E7B6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98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A2CF65-DF4C-43F5-8695-4083F88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Early Church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0D1335-B6D3-47C8-8B02-6F6BC8D1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670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156126-6D41-4CCF-B0F8-15FB14FB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242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Church Fathers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A8DF94-6417-4A47-91DD-5E58B164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242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1AF6E9-B6C4-4D56-ACF6-F1CE11BA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C61F86-FBCD-4243-8913-DA3A3D9E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Manuscripts, Canon, and Bible Translations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2382A6-D52B-47C1-87E8-53926E6A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Biblical Canon, Authority, and Interpretation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61AA46-A5A2-4084-BA15-E51C5C9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576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E96118-B95D-40B0-98DD-EF97858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148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Manuscripts and Textual 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73A1BE-6A4A-40D9-BA7B-20DA3232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14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B6B614-BEB9-40EB-A8AB-93D944B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Textual Criticism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19C7F9-F320-4747-8A03-66421571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720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10 topics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A4D53E-0432-4261-915F-A32AD535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Bible Translations and Versions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10EE2A-80DE-4832-A315-41B8C9C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291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7706EB-F3BE-489B-9C3B-F12482C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Current Ehrman Blog Demo metadata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1B7D57-0EF8-4011-84E6-327493C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9075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F81A06-14F4-4499-BE6D-3388E27D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211C"/>
                </a:solidFill>
              </a:defRPr>
            </a:pPr>
            <a:r>
              <a:rPr sz="1125" b="1">
                <a:solidFill>
                  <a:srgbClr val="7A211C"/>
                </a:solidFill>
              </a:rPr>
              <a:t>BROWSE TOPICS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9E888-927F-4756-8198-7F618AEF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</a:defRPr>
            </a:pPr>
            <a:r>
              <a:rPr sz="3150" b="1">
                <a:solidFill>
                  <a:srgbClr val="1F2933"/>
                </a:solidFill>
              </a:rPr>
              <a:t>Browse Topics 1: subject areas 6-10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E2FA1-CB28-47BA-A7FB-864F675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A"/>
                </a:solidFill>
              </a:defRPr>
            </a:pPr>
            <a:r>
              <a:rPr sz="1425" b="0">
                <a:solidFill>
                  <a:srgbClr val="64707A"/>
                </a:solidFill>
              </a:rPr>
              <a:t>The complete path contains 10 subject areas and 41 category 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FCE40-C1A3-4179-8006-15FBE88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84841-C3B0-43EE-BA7E-877C76E6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A1FFB-F15C-41A3-93EA-20C8FCB9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8669C-9C67-41AA-A9D6-DCB294A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Authorship, Forgery, and Historical 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2918D-9DDD-45C0-985C-9F8B1191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Authorship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75FC8-B10B-4432-A7C3-02C6F6A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EA509-17E6-43ED-8ED0-E136CEF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Forgery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EC35A-A641-4FF1-AF24-2C99E08E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9F762-D5C7-4DA0-8F33-15A2DB3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Historical and Critical Methods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379CC-FD6C-413D-8E5B-FCEEE293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11 topics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3674B-92F0-447E-9D4C-02EA3C5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Memory, Oral Tradition, and Eyewitnesses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024EE-6036-47BD-9DA3-48F1EFF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98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E91FF-A665-43C8-92B0-77FDA7F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C6420-BD90-4F94-8126-FF6C5F9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Theology, Belief, and Supernatural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231EA-5C42-41AE-AAFC-F5D2246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Christology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EBEA8-8A36-4525-A4E4-B53E7BF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1349B-5845-42BA-9522-5B925730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Salvation, Atonement, and Judgment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9D3AD-9232-4E48-89B9-52ACEB2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004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4C83F-CC6C-4E88-AE03-B847F476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Miracles and Supernatural 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9D8B8-AE3F-4E61-AB18-83330025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5C38B-A16C-4C52-A1EE-2D33C59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Faith, Doubt, and Nonbelief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BD8B7-6ABB-49A5-9930-18C39D7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37A17-4CA8-44A3-BD44-7AA0C65C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26CF0-BA9B-4A6F-95BF-0AF49E2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Afterlife, Revelation, End Times, and Suffering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EB5F4E-2A9D-4727-9BEE-9EA900E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Revelation and End-Time 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E39C88-9315-47F8-9486-4A91E1FD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3 topics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F36AA-6F8D-4790-BD10-91445A6D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Afterlife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498DA-8093-49C3-A568-3F6D56D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45E59-9E26-4BEE-89F6-A405071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Suffering and Evil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3F3F0E-2D19-4660-AA94-ACCCDE7E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6 topics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3B7024-ABF7-4816-8B07-BF66B94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A5B1A-9BB2-4BFB-8A76-2E95BC83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241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Ancient Society, Ethics, and Social Issues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154088-8EBF-4BE2-BF0C-14EA2FBC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861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Ancient World and Social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72BF60-DC5B-43BE-BCDE-367CBA60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861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4D16F-B0D2-46D0-A51B-86B4321D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Wealth, Poverty, and Charity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19BD9-B354-4DDE-B2B7-98658F5E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433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563E4-B2E6-44D8-93E5-EE0489A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004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Women, Gender, and Sexuality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16A618-5582-46D9-ABA3-5DFE0BC3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004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6 topics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A36329-2541-43B1-8DDA-6E22030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Ethics and Moral Reasoning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75240-1FC0-4148-B48C-B4C03B5F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576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D18634-C808-4774-837D-ABAF69F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211C"/>
          </a:solidFill>
          <a:ln xmlns:a="http://schemas.openxmlformats.org/drawingml/2006/main" w="0">
            <a:solidFill>
              <a:srgbClr val="7A211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D71A70-21FD-4A9F-A2BB-050404DA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291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211C"/>
                </a:solidFill>
              </a:defRPr>
            </a:pPr>
            <a:r>
              <a:rPr sz="1650" b="1">
                <a:solidFill>
                  <a:srgbClr val="7A211C"/>
                </a:solidFill>
              </a:rPr>
              <a:t>Books, Teaching, Media, and Blog Features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4C255F-5A40-4179-8BDF-BC2FD05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910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Bart's Books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537AA4-7033-40E4-8EB7-2868A53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910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B59D76-5F1F-4EFD-85D8-A4FE261C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482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Teaching, General Books, and Media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238CB7-7410-48C0-94E4-304228F5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482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3B9858-242D-4B87-BABB-DC1E69A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054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Academic Life, Scholars, and Public Debate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8003B6-2ECC-44A8-BC3F-609F356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054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1FB7DC-C7F7-415B-97BD-1EBF8F50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5626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Blog Features and Personal Posts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521838-A65B-4276-9A75-E2860397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626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ED9D7B-777C-4D8A-8D88-56768888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Current Ehrman Blog Demo metadata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64A7E6-A32E-4D3B-AB98-9CC64B6D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5568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26F74C-1C6A-4DF4-9CF0-B9AD8682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211C"/>
                </a:solidFill>
              </a:defRPr>
            </a:pPr>
            <a:r>
              <a:rPr sz="1125" b="1">
                <a:solidFill>
                  <a:srgbClr val="7A211C"/>
                </a:solidFill>
              </a:rPr>
              <a:t>BROWSE TOPICS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2FFBA-1B30-4C34-A099-2DE17B9B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</a:defRPr>
            </a:pPr>
            <a:r>
              <a:rPr sz="3150" b="1">
                <a:solidFill>
                  <a:srgbClr val="1F2933"/>
                </a:solidFill>
              </a:rPr>
              <a:t>Browse Topics 2: subject areas 1-4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1C8C0-649E-4168-A08F-8E771C08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A"/>
                </a:solidFill>
              </a:defRPr>
            </a:pPr>
            <a:r>
              <a:rPr sz="1425" b="0">
                <a:solidFill>
                  <a:srgbClr val="64707A"/>
                </a:solidFill>
              </a:rPr>
              <a:t>This alternative starts with writing types, people, early Christianity, and belief.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A9F78-6442-4DFA-836C-5EEEB68B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EF843-8595-452F-B764-42E00284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0A8EB-DFC6-49E1-819E-673107DE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73FB2-DDD8-4EF0-B108-04C29EE6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New Testament Writings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E0DD9-2EDE-4765-9B20-98C5C48D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Canonical Gospels and 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51614-9F5A-48AD-B7DD-562856AF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16 topics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66BC7-E121-4D21-84F8-A5401A44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Pauline Epistles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E173C-8BDD-440D-9404-B1634C1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17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76148-4ED7-434A-9A61-7002F6E1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Non-Pauline Epistles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2CF10-9707-40A3-8FBE-F149CDFE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C9981-A15B-436F-9AEA-4090ED50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Revelation and End-Time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EF6EF-3E29-43FF-A876-A91D2BC1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98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3 topics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FB0C0-5563-4759-9026-7426EE8D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73ED8-382D-45EC-997F-A56A97D0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Jesus, Paul, and Other New Testament Figures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A034C-64C5-446B-9A1F-3981528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Historical Jesus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07F69-6BE0-420A-886B-120DBF37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EE301-3E86-419D-8F29-DAB0A8B7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Jesus' Birth, Family, and Miracles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09A27-BF03-4C12-AB34-951CCE31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004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6362-DDE9-40A2-8548-84BF6862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Jesus' Teachings and Social World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C6DC8-AA70-43A8-A8F3-F144E50E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43DB2-A046-4E59-9DCE-31274BAA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Jesus' Death, Burial, and Resurrection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8A08F-A4E4-4137-BF51-E1AE0909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11 topics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0B815-D90F-41AB-A34E-7E1C4954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Paul's Life, Mission, and Communities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58B159-3054-4B69-9037-145FD63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720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440A7-D842-41DA-A78F-37D81BE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Pauline Epistles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4A415-0A94-481F-B369-36874BC8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291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17 topics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48D8D-9AB4-4BA2-ADBE-930387C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Pauline Thought and Practice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09041-5528-4D8D-9CED-7FBA64FB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86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CE91C3-B9E5-499D-AAC8-4D012396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43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New Testament Figures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27817E-94F6-4F58-A649-9B929E5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43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6 topics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F44A99-BEDA-4EDB-B769-1214999A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9A6937-FE54-4817-8683-C1DB3BEE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Early Christianity and Ancient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8870F7-63AD-4C2E-A211-85A80AA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Christian Origins and Expansion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CE5863-7B35-4F7B-AAAC-4F505B4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39B2A3-83B3-4790-8C76-D483736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Ancient World and Social Context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714A94-F78F-4A23-AC01-B357C323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314E7C-ABC6-424B-9143-352D954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Non-Canonical Christian Texts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9B70EB-5995-4BC3-9A65-CFEC4357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16 topics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10A312-0526-4536-983A-EE4D2681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Persecution and Martyrdom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522308-C993-41BF-8A61-B045385F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98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5E2DD7-8800-4523-AC4C-3AB08990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Early Church History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D09D5A-8863-42C1-B0BB-A5C1B39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670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0AC21A-8624-40A2-B3BE-7FAE705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242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Church Fathers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EA551A-FBED-4598-82AD-DBFFF0E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242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BA198B-C658-4226-8FB5-C4E50DA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F0AB94-5DEE-4B8F-8322-9B8F0025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Theology, Faith, and Nonbelief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038B1C-5146-468B-8404-30890637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Christology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7E43039-10AF-49EB-831F-3695686C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576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8 topics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D713AA-B9F9-4D09-99BF-46CE247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148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Salvation, Atonement, and Judgment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E21812-B821-447C-B2E6-8C04013C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14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0FDE42-BC5E-41A1-8BD9-66274B58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Gnosticism, Orthodoxy, and Heresy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01E20A-02A1-41C2-8744-8E1A9BB1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720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9C8DB2-77FF-4D66-B7CA-9A696EF9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Suffering and Evil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FEAA52-0ABC-4694-92E3-CC875BF2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291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6 topics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CEC72E-3819-4938-951A-1765D245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86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Faith, Doubt, and Nonbelief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E13987-5F6E-4CDD-A191-E5FFB06F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86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ABA53F-A558-43E8-92D2-12C14AD9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007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</a:defRPr>
            </a:pPr>
            <a:r>
              <a:rPr sz="975" b="0">
                <a:solidFill>
                  <a:srgbClr val="64707A"/>
                </a:solidFill>
              </a:rPr>
              <a:t>Pauline Epistles appears under two subject areas by design.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5AF83E-E3F0-460F-9603-9634215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Current Ehrman Blog Demo metadata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0F7D84-3149-444B-8AD5-5E55A11E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111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C8D7F8-6EC1-4280-A3FB-8CDC92CE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211C"/>
                </a:solidFill>
              </a:defRPr>
            </a:pPr>
            <a:r>
              <a:rPr sz="1125" b="1">
                <a:solidFill>
                  <a:srgbClr val="7A211C"/>
                </a:solidFill>
              </a:rPr>
              <a:t>BROWSE TOPICS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6DB0C-6E0C-49D9-B440-B48EF10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</a:defRPr>
            </a:pPr>
            <a:r>
              <a:rPr sz="3150" b="1">
                <a:solidFill>
                  <a:srgbClr val="1F2933"/>
                </a:solidFill>
              </a:rPr>
              <a:t>Browse Topics 2: subject areas 5-9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E6057-EA31-4B61-AECE-CF63C26C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A"/>
                </a:solidFill>
              </a:defRPr>
            </a:pPr>
            <a:r>
              <a:rPr sz="1425" b="0">
                <a:solidFill>
                  <a:srgbClr val="64707A"/>
                </a:solidFill>
              </a:rPr>
              <a:t>The complete path contains 9 subject areas and 42 category links across the same 41 categories.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60C50-6687-428E-AEAA-61ACF81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3323A-1A4B-459A-B3C4-1D6EDB4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0" cy="461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E9C43-40BC-477B-BF5F-06C8C279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36941-A214-4CD9-A08B-510B580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Afterlife, Miracles, and Supernatural Claims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0CB16-01C5-44B7-9308-98944E0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Afterlife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50FF1-AFB1-4B41-ACE7-87826806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F3FA6-6426-49D3-B582-26A251C3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Miracles and Supernatural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76DFC-F9A7-48F0-A839-9D6CFB6E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54191-A25E-4E77-9575-499D86F7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2EA03-85EC-4BF5-9CFB-BE4E5223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Ethics and Social Issues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52D7C-2CF1-4552-9272-B22E2F4D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Ethics and Moral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9212D-105C-4593-9893-5607BC9F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2AED2-1CD5-4E00-8071-715FFABD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Wealth, Poverty, and Charity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48B61-4BA4-42D5-B7A7-BE9EC13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6DB9C-B83B-48FD-957A-F2EA2C42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Women, Gender, and Sexuality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50E5F-A408-4DD9-9C17-3E29B365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6 topics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35FAD-7E21-486E-99AF-AAAE378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1B017-32FE-422D-8EF3-B9722910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Hebrew Bible and Early Judaism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D97A3-8B11-479D-9722-D21AC097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Hebrew Bible Texts and Traditions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6F440-7E93-4E43-894D-ED83EA1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14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92BEA-F3F6-47C7-80CC-46F412D6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Early Judaism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F0CF1-0A1F-40C8-AF0E-C0BA5AF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339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B6914-7AD2-4621-BDD3-3B2F0DCC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0497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D42E2-4AF2-4004-9CFF-6EE4AB0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Texts, Manuscripts, and Methods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8C5FFE-31AB-4633-8AA6-0F8AF26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Historical and Critical Methods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41DCE-1789-4963-97E2-04CCFE00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38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11 topics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F63B96-5A26-4C77-B27E-34CAF93D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Memory, Oral Tradition, and Eyewitnesses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862CCD-28CC-4255-A560-847433C6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95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3C0F04-E42F-4FB4-97A3-06849ADA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Authorship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F46D5-E1C7-4AB6-A03C-14131BAD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5527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DD8E95-9FD9-4E49-A18D-86D0DAEE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Forgery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0CE619-926A-47DA-8C08-083170F9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98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B0C016-A729-40EB-AEB6-C62C00EB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670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Biblical Canon, Authority, and Interpretation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5F2D22-AF6E-4D82-B537-7FD12C5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670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90408B-6DFB-4756-8818-28C4F8A2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242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Manuscripts and Textual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C92587-F022-4D3E-AAB0-4D10CE2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242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94503C-0EE4-4B0E-94B7-0FA75929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Textual Criticism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6D5299-2105-4AE2-BBD0-29C6F909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814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10 topics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0D7592-8399-4727-BBC5-97C8C499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385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Bible Translations and Versions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A8DB76-FBBD-4987-9264-A8145CD9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385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528DA2-1A5A-4920-96E5-5A3FBD5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91"/>
          </a:solidFill>
          <a:ln xmlns:a="http://schemas.openxmlformats.org/drawingml/2006/main" w="0">
            <a:solidFill>
              <a:srgbClr val="0B5F9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4D0220-F646-447E-919A-FB1534B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F91"/>
                </a:solidFill>
              </a:defRPr>
            </a:pPr>
            <a:r>
              <a:rPr sz="1650" b="1">
                <a:solidFill>
                  <a:srgbClr val="0B5F91"/>
                </a:solidFill>
              </a:rPr>
              <a:t>Books, Scholarship, and the Blog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20F5A7-0872-432A-BA74-20C85C40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Bart's Books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090764-4D0E-415A-84D1-241EEF9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7200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9 topics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8E1CF2-18A8-4F99-8146-2CEED02D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291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Teaching, General Books, and Media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7203FA-C82B-440F-8167-44A428B0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291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7 topics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993113-74D4-40BC-89E4-EB6DF050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863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Academic Life, Scholars, and Public Debate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E2DC5C-09C3-430A-9A1E-1E57B56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0863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5 topics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DDADE5-CD77-4467-AFCE-BCCA2937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435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Blog Features and Personal Posts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632AB8-C91C-46F5-8628-00B9ED00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435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07A"/>
                </a:solidFill>
              </a:defRPr>
            </a:pPr>
            <a:r>
              <a:rPr sz="1125" b="0">
                <a:solidFill>
                  <a:srgbClr val="64707A"/>
                </a:solidFill>
              </a:rPr>
              <a:t>4 topics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4CFC12-A505-450B-813E-C710411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Current Ehrman Blog Demo metadata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B6C52C-820E-4894-B64D-F396DACF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07A"/>
                </a:solidFill>
              </a:defRPr>
            </a:pPr>
            <a:r>
              <a:rPr sz="900" b="0">
                <a:solidFill>
                  <a:srgbClr val="64707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4339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2026-08-04T12:03:13.3000000Z</dcterms:created>
  <dcterms:modified xsi:type="dcterms:W3CDTF">2026-08-04T12:03:13.3010000Z</dcterms:modified>
</coreProperties>
</file>